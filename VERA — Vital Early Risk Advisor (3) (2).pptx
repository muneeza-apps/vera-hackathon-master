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9144000" cx="16256000"/>
  <p:notesSz cx="9144000" cy="16256000"/>
  <p:embeddedFontLst>
    <p:embeddedFont>
      <p:font typeface="Liter"/>
      <p:regular r:id="rId24"/>
    </p:embeddedFont>
    <p:embeddedFont>
      <p:font typeface="Quattrocen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4E8D15-272D-48B7-8755-107E12BFE031}">
  <a:tblStyle styleId="{C34E8D15-272D-48B7-8755-107E12BFE03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iter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bold.fntdata"/><Relationship Id="rId25" Type="http://schemas.openxmlformats.org/officeDocument/2006/relationships/font" Target="fonts/QuattrocentoSans-regular.fntdata"/><Relationship Id="rId28" Type="http://schemas.openxmlformats.org/officeDocument/2006/relationships/font" Target="fonts/QuattrocentoSans-boldItalic.fntdata"/><Relationship Id="rId27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e32a2df5f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e32a2df5f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e32a2df5f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32a2df5f7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e32a2df5f7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e32a2df5f7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32a2df5f7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e32a2df5f7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e32a2df5f7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hyperlink" Target="http://github.com/sathyapriyakarthikeyan27/vera-hackath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2825" y="-137775"/>
            <a:ext cx="16817001" cy="10510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/>
        </p:nvSpPr>
        <p:spPr>
          <a:xfrm>
            <a:off x="1146825" y="835050"/>
            <a:ext cx="1375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Quattrocento Sans"/>
                <a:ea typeface="Quattrocento Sans"/>
                <a:cs typeface="Quattrocento Sans"/>
                <a:sym typeface="Quattrocento Sans"/>
              </a:rPr>
              <a:t>AI AGENT OLYMPICS — MILAN AI WEEK 2026</a:t>
            </a:r>
            <a:endParaRPr sz="1200"/>
          </a:p>
        </p:txBody>
      </p:sp>
      <p:sp>
        <p:nvSpPr>
          <p:cNvPr id="19" name="Google Shape;19;p4"/>
          <p:cNvSpPr txBox="1"/>
          <p:nvPr/>
        </p:nvSpPr>
        <p:spPr>
          <a:xfrm>
            <a:off x="6525675" y="1586625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333333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sz="1600">
              <a:solidFill>
                <a:srgbClr val="333333"/>
              </a:solidFill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3114800" y="7223350"/>
            <a:ext cx="991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VITAL EARLY RISK ADVISOR</a:t>
            </a:r>
            <a:endParaRPr sz="1600">
              <a:solidFill>
                <a:srgbClr val="333333"/>
              </a:solidFill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5588050" y="7837450"/>
            <a:ext cx="5079900" cy="5079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TRACK: COLLABORATIVE AGENT SWARMS</a:t>
            </a:r>
            <a:endParaRPr b="0" i="0" sz="1600" u="none" cap="none" strike="noStrike">
              <a:solidFill>
                <a:schemeClr val="lt1"/>
              </a:solidFill>
            </a:endParaRPr>
          </a:p>
        </p:txBody>
      </p:sp>
      <p:sp>
        <p:nvSpPr>
          <p:cNvPr id="22" name="Google Shape;22;p4"/>
          <p:cNvSpPr txBox="1"/>
          <p:nvPr/>
        </p:nvSpPr>
        <p:spPr>
          <a:xfrm>
            <a:off x="2697075" y="8436250"/>
            <a:ext cx="991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  </a:t>
            </a:r>
            <a:r>
              <a:rPr lang="en-US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Powered by Google Gemini | Deployed on Vultr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29" name="Google Shape;29;p5"/>
          <p:cNvSpPr/>
          <p:nvPr/>
        </p:nvSpPr>
        <p:spPr>
          <a:xfrm>
            <a:off x="762000" y="889000"/>
            <a:ext cx="698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600 Million Women Are Being Ignored</a:t>
            </a:r>
            <a:endParaRPr b="0" i="0" sz="3000" u="none" cap="none" strike="noStrike"/>
          </a:p>
        </p:txBody>
      </p:sp>
      <p:sp>
        <p:nvSpPr>
          <p:cNvPr id="30" name="Google Shape;30;p5"/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762000" y="19685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600M</a:t>
            </a:r>
            <a:endParaRPr b="0" i="0" sz="6000" u="none" cap="none" strike="noStrike"/>
          </a:p>
        </p:txBody>
      </p:sp>
      <p:sp>
        <p:nvSpPr>
          <p:cNvPr id="32" name="Google Shape;32;p5"/>
          <p:cNvSpPr/>
          <p:nvPr/>
        </p:nvSpPr>
        <p:spPr>
          <a:xfrm>
            <a:off x="762000" y="3048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women worldwide skip cancer screenings every single year</a:t>
            </a:r>
            <a:endParaRPr b="0" i="0" sz="1600" u="none" cap="none" strike="noStrike"/>
          </a:p>
        </p:txBody>
      </p:sp>
      <p:sp>
        <p:nvSpPr>
          <p:cNvPr id="33" name="Google Shape;33;p5"/>
          <p:cNvSpPr/>
          <p:nvPr/>
        </p:nvSpPr>
        <p:spPr>
          <a:xfrm>
            <a:off x="762000" y="4191000"/>
            <a:ext cx="6350000" cy="101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1016000" y="42545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70%</a:t>
            </a:r>
            <a:endParaRPr b="0" i="0" sz="1600" u="none" cap="none" strike="noStrike"/>
          </a:p>
        </p:txBody>
      </p:sp>
      <p:sp>
        <p:nvSpPr>
          <p:cNvPr id="35" name="Google Shape;35;p5"/>
          <p:cNvSpPr/>
          <p:nvPr/>
        </p:nvSpPr>
        <p:spPr>
          <a:xfrm>
            <a:off x="2349500" y="4254500"/>
            <a:ext cx="4572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cervical cancer cases in India detected at Stage 3 or 4 — when survival odds drop sharply</a:t>
            </a:r>
            <a:endParaRPr b="0" i="0" sz="1600" u="none" cap="none" strike="noStrike"/>
          </a:p>
        </p:txBody>
      </p:sp>
      <p:sp>
        <p:nvSpPr>
          <p:cNvPr id="36" name="Google Shape;36;p5"/>
          <p:cNvSpPr/>
          <p:nvPr/>
        </p:nvSpPr>
        <p:spPr>
          <a:xfrm>
            <a:off x="762000" y="5588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THE BARRIERS ARE NOT MEDICAL</a:t>
            </a:r>
            <a:endParaRPr b="0" i="0" sz="1600" u="none" cap="none" strike="noStrike"/>
          </a:p>
        </p:txBody>
      </p:sp>
      <p:sp>
        <p:nvSpPr>
          <p:cNvPr id="37" name="Google Shape;37;p5"/>
          <p:cNvSpPr/>
          <p:nvPr/>
        </p:nvSpPr>
        <p:spPr>
          <a:xfrm>
            <a:off x="762000" y="6096000"/>
            <a:ext cx="6350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 personalized understanding of their own risk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Stigma and lack of family support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Unawareness of free government schemes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 guidance in their own language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 one following up</a:t>
            </a:r>
            <a:endParaRPr b="0" i="0" sz="1600" u="none" cap="none" strike="noStrike"/>
          </a:p>
        </p:txBody>
      </p:sp>
      <p:sp>
        <p:nvSpPr>
          <p:cNvPr id="38" name="Google Shape;38;p5"/>
          <p:cNvSpPr/>
          <p:nvPr/>
        </p:nvSpPr>
        <p:spPr>
          <a:xfrm>
            <a:off x="762000" y="8407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WHO, India Ministry of Health</a:t>
            </a:r>
            <a:endParaRPr b="0" i="0" sz="1400" u="none" cap="none" strike="noStrike"/>
          </a:p>
        </p:txBody>
      </p:sp>
      <p:sp>
        <p:nvSpPr>
          <p:cNvPr id="39" name="Google Shape;39;p5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15557500" y="8407400"/>
            <a:ext cx="44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400" u="none" cap="none" strike="noStrike"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9400" y="152400"/>
            <a:ext cx="8102601" cy="810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48" name="Google Shape;48;p6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The Screening Gap — A Silent Crisis</a:t>
            </a:r>
            <a:endParaRPr b="0" i="0" sz="3000" u="none" cap="none" strike="noStrike"/>
          </a:p>
        </p:txBody>
      </p:sp>
      <p:sp>
        <p:nvSpPr>
          <p:cNvPr id="49" name="Google Shape;49;p6"/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762000" y="1968500"/>
            <a:ext cx="4572000" cy="2794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1016000" y="2159000"/>
            <a:ext cx="4064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PRIMARY TARGET</a:t>
            </a:r>
            <a:endParaRPr b="0" i="0" sz="1600" u="none" cap="none" strike="noStrike"/>
          </a:p>
        </p:txBody>
      </p:sp>
      <p:sp>
        <p:nvSpPr>
          <p:cNvPr id="52" name="Google Shape;52;p6"/>
          <p:cNvSpPr/>
          <p:nvPr/>
        </p:nvSpPr>
        <p:spPr>
          <a:xfrm>
            <a:off x="1016000" y="2603500"/>
            <a:ext cx="4064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Women 25–60</a:t>
            </a:r>
            <a:endParaRPr b="0" i="0" sz="1600" u="none" cap="none" strike="noStrike"/>
          </a:p>
        </p:txBody>
      </p:sp>
      <p:sp>
        <p:nvSpPr>
          <p:cNvPr id="53" name="Google Shape;53;p6"/>
          <p:cNvSpPr/>
          <p:nvPr/>
        </p:nvSpPr>
        <p:spPr>
          <a:xfrm>
            <a:off x="1016000" y="3175000"/>
            <a:ext cx="406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India and globally, with limited prior cancer screening history. 8 conversational questions replace intimidating medical forms.</a:t>
            </a:r>
            <a:endParaRPr b="0" i="0" sz="1600" u="none" cap="none" strike="noStrike"/>
          </a:p>
        </p:txBody>
      </p:sp>
      <p:sp>
        <p:nvSpPr>
          <p:cNvPr id="54" name="Google Shape;54;p6"/>
          <p:cNvSpPr/>
          <p:nvPr/>
        </p:nvSpPr>
        <p:spPr>
          <a:xfrm>
            <a:off x="5715000" y="1968500"/>
            <a:ext cx="4572000" cy="279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5969000" y="2159000"/>
            <a:ext cx="4064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8F71"/>
                </a:solidFill>
                <a:latin typeface="Liter"/>
                <a:ea typeface="Liter"/>
                <a:cs typeface="Liter"/>
                <a:sym typeface="Liter"/>
              </a:rPr>
              <a:t>SECONDARY TARGET</a:t>
            </a:r>
            <a:endParaRPr b="0" i="0" sz="1600" u="none" cap="none" strike="noStrike"/>
          </a:p>
        </p:txBody>
      </p:sp>
      <p:sp>
        <p:nvSpPr>
          <p:cNvPr id="56" name="Google Shape;56;p6"/>
          <p:cNvSpPr/>
          <p:nvPr/>
        </p:nvSpPr>
        <p:spPr>
          <a:xfrm>
            <a:off x="5969000" y="2603500"/>
            <a:ext cx="4064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Drop-off Re-engagement</a:t>
            </a:r>
            <a:endParaRPr b="0" i="0" sz="1600" u="none" cap="none" strike="noStrike"/>
          </a:p>
        </p:txBody>
      </p:sp>
      <p:sp>
        <p:nvSpPr>
          <p:cNvPr id="57" name="Google Shape;57;p6"/>
          <p:cNvSpPr/>
          <p:nvPr/>
        </p:nvSpPr>
        <p:spPr>
          <a:xfrm>
            <a:off x="5969000" y="3175000"/>
            <a:ext cx="4064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Women who had one screening but fell through the cracks. VERA's Companion Agent brings them back.</a:t>
            </a:r>
            <a:endParaRPr b="0" i="0" sz="1600" u="none" cap="none" strike="noStrike"/>
          </a:p>
        </p:txBody>
      </p:sp>
      <p:sp>
        <p:nvSpPr>
          <p:cNvPr id="58" name="Google Shape;58;p6"/>
          <p:cNvSpPr/>
          <p:nvPr/>
        </p:nvSpPr>
        <p:spPr>
          <a:xfrm>
            <a:off x="10668000" y="1968500"/>
            <a:ext cx="4826000" cy="279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10922000" y="2159000"/>
            <a:ext cx="4318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OUT OF SCOPE V1</a:t>
            </a:r>
            <a:endParaRPr b="0" i="0" sz="1600" u="none" cap="none" strike="noStrike"/>
          </a:p>
        </p:txBody>
      </p:sp>
      <p:sp>
        <p:nvSpPr>
          <p:cNvPr id="60" name="Google Shape;60;p6"/>
          <p:cNvSpPr/>
          <p:nvPr/>
        </p:nvSpPr>
        <p:spPr>
          <a:xfrm>
            <a:off x="10922000" y="2603500"/>
            <a:ext cx="4318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Post-Diagnosis</a:t>
            </a:r>
            <a:endParaRPr b="0" i="0" sz="1600" u="none" cap="none" strike="noStrike"/>
          </a:p>
        </p:txBody>
      </p:sp>
      <p:sp>
        <p:nvSpPr>
          <p:cNvPr id="61" name="Google Shape;61;p6"/>
          <p:cNvSpPr/>
          <p:nvPr/>
        </p:nvSpPr>
        <p:spPr>
          <a:xfrm>
            <a:off x="10922000" y="3175000"/>
            <a:ext cx="4318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Men's health, clinical decision support for providers, EHR integration, live doctor consultation.</a:t>
            </a:r>
            <a:endParaRPr b="0" i="0" sz="1600" u="none" cap="none" strike="noStrike"/>
          </a:p>
        </p:txBody>
      </p:sp>
      <p:sp>
        <p:nvSpPr>
          <p:cNvPr id="62" name="Google Shape;62;p6"/>
          <p:cNvSpPr/>
          <p:nvPr/>
        </p:nvSpPr>
        <p:spPr>
          <a:xfrm>
            <a:off x="762000" y="52705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THE VERA JOURNEY</a:t>
            </a:r>
            <a:endParaRPr b="0" i="0" sz="1600" u="none" cap="none" strike="noStrike"/>
          </a:p>
        </p:txBody>
      </p:sp>
      <p:sp>
        <p:nvSpPr>
          <p:cNvPr id="63" name="Google Shape;63;p6"/>
          <p:cNvSpPr/>
          <p:nvPr/>
        </p:nvSpPr>
        <p:spPr>
          <a:xfrm>
            <a:off x="762000" y="5842000"/>
            <a:ext cx="2159000" cy="1016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762000" y="5842000"/>
            <a:ext cx="2159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 VERA</a:t>
            </a:r>
            <a:endParaRPr b="0" i="0" sz="1600" u="none" cap="none" strike="noStrike"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your language</a:t>
            </a:r>
            <a:endParaRPr b="0" i="0" sz="1600" u="none" cap="none" strike="noStrike"/>
          </a:p>
        </p:txBody>
      </p:sp>
      <p:cxnSp>
        <p:nvCxnSpPr>
          <p:cNvPr id="65" name="Google Shape;65;p6"/>
          <p:cNvCxnSpPr/>
          <p:nvPr/>
        </p:nvCxnSpPr>
        <p:spPr>
          <a:xfrm>
            <a:off x="3048000" y="62230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E8705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6" name="Google Shape;66;p6"/>
          <p:cNvSpPr/>
          <p:nvPr/>
        </p:nvSpPr>
        <p:spPr>
          <a:xfrm>
            <a:off x="3556000" y="5842000"/>
            <a:ext cx="2159000" cy="1016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3556000" y="5842000"/>
            <a:ext cx="2159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 Questions</a:t>
            </a:r>
            <a:endParaRPr b="0" i="0" sz="1600" u="none" cap="none" strike="noStrike"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conversational</a:t>
            </a:r>
            <a:endParaRPr b="0" i="0" sz="1600" u="none" cap="none" strike="noStrike"/>
          </a:p>
        </p:txBody>
      </p:sp>
      <p:cxnSp>
        <p:nvCxnSpPr>
          <p:cNvPr id="68" name="Google Shape;68;p6"/>
          <p:cNvCxnSpPr/>
          <p:nvPr/>
        </p:nvCxnSpPr>
        <p:spPr>
          <a:xfrm>
            <a:off x="5842000" y="62230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E8705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9" name="Google Shape;69;p6"/>
          <p:cNvSpPr/>
          <p:nvPr/>
        </p:nvSpPr>
        <p:spPr>
          <a:xfrm>
            <a:off x="6350000" y="5842000"/>
            <a:ext cx="2159000" cy="10160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6350000" y="5842000"/>
            <a:ext cx="2159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Score</a:t>
            </a:r>
            <a:endParaRPr b="0" i="0" sz="1600" u="none" cap="none" strike="noStrike"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timeline</a:t>
            </a:r>
            <a:endParaRPr b="0" i="0" sz="1600" u="none" cap="none" strike="noStrike"/>
          </a:p>
        </p:txBody>
      </p:sp>
      <p:cxnSp>
        <p:nvCxnSpPr>
          <p:cNvPr id="71" name="Google Shape;71;p6"/>
          <p:cNvCxnSpPr/>
          <p:nvPr/>
        </p:nvCxnSpPr>
        <p:spPr>
          <a:xfrm>
            <a:off x="8636000" y="62230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E8705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2" name="Google Shape;72;p6"/>
          <p:cNvSpPr/>
          <p:nvPr/>
        </p:nvSpPr>
        <p:spPr>
          <a:xfrm>
            <a:off x="9144000" y="5842000"/>
            <a:ext cx="2159000" cy="1016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9144000" y="5842000"/>
            <a:ext cx="2159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Schemes</a:t>
            </a:r>
            <a:endParaRPr b="0" i="0" sz="1600" u="none" cap="none" strike="noStrike"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clinics</a:t>
            </a:r>
            <a:endParaRPr b="0" i="0" sz="1600" u="none" cap="none" strike="noStrike"/>
          </a:p>
        </p:txBody>
      </p:sp>
      <p:cxnSp>
        <p:nvCxnSpPr>
          <p:cNvPr id="74" name="Google Shape;74;p6"/>
          <p:cNvCxnSpPr/>
          <p:nvPr/>
        </p:nvCxnSpPr>
        <p:spPr>
          <a:xfrm>
            <a:off x="11430000" y="62230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E8705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5" name="Google Shape;75;p6"/>
          <p:cNvSpPr/>
          <p:nvPr/>
        </p:nvSpPr>
        <p:spPr>
          <a:xfrm>
            <a:off x="11938000" y="5842000"/>
            <a:ext cx="2159000" cy="1016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11938000" y="5842000"/>
            <a:ext cx="2159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Companion</a:t>
            </a:r>
            <a:endParaRPr b="0" i="0" sz="1600" u="none" cap="none" strike="noStrike"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follows up</a:t>
            </a:r>
            <a:endParaRPr b="0" i="0" sz="1600" u="none" cap="none" strike="noStrike"/>
          </a:p>
        </p:txBody>
      </p:sp>
      <p:sp>
        <p:nvSpPr>
          <p:cNvPr id="77" name="Google Shape;77;p6"/>
          <p:cNvSpPr/>
          <p:nvPr/>
        </p:nvSpPr>
        <p:spPr>
          <a:xfrm>
            <a:off x="762000" y="7302500"/>
            <a:ext cx="1473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She leaves knowing </a:t>
            </a:r>
            <a:r>
              <a:rPr b="1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her risk</a:t>
            </a: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1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her options</a:t>
            </a: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and </a:t>
            </a:r>
            <a:r>
              <a:rPr b="1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her next step</a:t>
            </a: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in under 5 minutes.</a:t>
            </a:r>
            <a:endParaRPr b="0" i="0" sz="1600" u="none" cap="none" strike="noStrike"/>
          </a:p>
        </p:txBody>
      </p:sp>
      <p:sp>
        <p:nvSpPr>
          <p:cNvPr id="78" name="Google Shape;78;p6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762000" y="1524000"/>
            <a:ext cx="50800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1600" u="none" cap="none" strike="noStrike"/>
          </a:p>
        </p:txBody>
      </p:sp>
      <p:sp>
        <p:nvSpPr>
          <p:cNvPr id="86" name="Google Shape;86;p7"/>
          <p:cNvSpPr/>
          <p:nvPr/>
        </p:nvSpPr>
        <p:spPr>
          <a:xfrm>
            <a:off x="762000" y="36830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THE SOLUTION</a:t>
            </a:r>
            <a:endParaRPr b="0" i="0" sz="1600" u="none" cap="none" strike="noStrike"/>
          </a:p>
        </p:txBody>
      </p:sp>
      <p:sp>
        <p:nvSpPr>
          <p:cNvPr id="87" name="Google Shape;87;p7"/>
          <p:cNvSpPr/>
          <p:nvPr/>
        </p:nvSpPr>
        <p:spPr>
          <a:xfrm>
            <a:off x="762000" y="4191000"/>
            <a:ext cx="1016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762000" y="4572000"/>
            <a:ext cx="889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Four Agents. One Mission.</a:t>
            </a:r>
            <a:endParaRPr b="0" i="0" sz="1600" u="none" cap="none" strike="noStrike"/>
          </a:p>
        </p:txBody>
      </p:sp>
      <p:sp>
        <p:nvSpPr>
          <p:cNvPr id="89" name="Google Shape;89;p7"/>
          <p:cNvSpPr/>
          <p:nvPr/>
        </p:nvSpPr>
        <p:spPr>
          <a:xfrm>
            <a:off x="762000" y="5461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Catching cancer risk before it becomes a crisis.</a:t>
            </a:r>
            <a:endParaRPr b="0" i="0" sz="1600" u="none" cap="none" strike="noStrike"/>
          </a:p>
        </p:txBody>
      </p:sp>
      <p:sp>
        <p:nvSpPr>
          <p:cNvPr id="90" name="Google Shape;90;p7"/>
          <p:cNvSpPr/>
          <p:nvPr/>
        </p:nvSpPr>
        <p:spPr>
          <a:xfrm>
            <a:off x="762000" y="6604000"/>
            <a:ext cx="3302000" cy="762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762000" y="66040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Profiler</a:t>
            </a:r>
            <a:endParaRPr b="0" i="0" sz="1600" u="none" cap="none" strike="noStrike"/>
          </a:p>
        </p:txBody>
      </p:sp>
      <p:sp>
        <p:nvSpPr>
          <p:cNvPr id="92" name="Google Shape;92;p7"/>
          <p:cNvSpPr/>
          <p:nvPr/>
        </p:nvSpPr>
        <p:spPr>
          <a:xfrm>
            <a:off x="4318000" y="6604000"/>
            <a:ext cx="3302000" cy="762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4318000" y="66040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Care Navigator</a:t>
            </a:r>
            <a:endParaRPr b="0" i="0" sz="1600" u="none" cap="none" strike="noStrike"/>
          </a:p>
        </p:txBody>
      </p:sp>
      <p:sp>
        <p:nvSpPr>
          <p:cNvPr id="94" name="Google Shape;94;p7"/>
          <p:cNvSpPr/>
          <p:nvPr/>
        </p:nvSpPr>
        <p:spPr>
          <a:xfrm>
            <a:off x="7874000" y="6604000"/>
            <a:ext cx="3302000" cy="762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7874000" y="66040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Records Explainer</a:t>
            </a:r>
            <a:endParaRPr b="0" i="0" sz="1600" u="none" cap="none" strike="noStrike"/>
          </a:p>
        </p:txBody>
      </p:sp>
      <p:sp>
        <p:nvSpPr>
          <p:cNvPr id="96" name="Google Shape;96;p7"/>
          <p:cNvSpPr/>
          <p:nvPr/>
        </p:nvSpPr>
        <p:spPr>
          <a:xfrm>
            <a:off x="11430000" y="6604000"/>
            <a:ext cx="3302000" cy="7620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11430000" y="66040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Companion</a:t>
            </a:r>
            <a:endParaRPr b="0" i="0" sz="1600" u="none" cap="none" strike="noStrike"/>
          </a:p>
        </p:txBody>
      </p:sp>
      <p:pic>
        <p:nvPicPr>
          <p:cNvPr id="98" name="Google Shape;9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6000" y="493375"/>
            <a:ext cx="8839200" cy="4967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105" name="Google Shape;105;p8"/>
          <p:cNvSpPr/>
          <p:nvPr/>
        </p:nvSpPr>
        <p:spPr>
          <a:xfrm>
            <a:off x="762000" y="889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Meet VERA — Your Cancer Risk Companion</a:t>
            </a:r>
            <a:endParaRPr b="0" i="0" sz="3000" u="none" cap="none" strike="noStrike"/>
          </a:p>
        </p:txBody>
      </p:sp>
      <p:sp>
        <p:nvSpPr>
          <p:cNvPr id="106" name="Google Shape;106;p8"/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762000" y="1968500"/>
            <a:ext cx="6985000" cy="1016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1016000" y="1968500"/>
            <a:ext cx="6477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VERA </a:t>
            </a:r>
            <a:r>
              <a:rPr b="0" i="0" lang="en-US" sz="20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= Vital Early Risk Advisor</a:t>
            </a:r>
            <a:endParaRPr b="0" i="0" sz="1600" u="none" cap="none" strike="noStrike"/>
          </a:p>
        </p:txBody>
      </p:sp>
      <p:sp>
        <p:nvSpPr>
          <p:cNvPr id="109" name="Google Shape;109;p8"/>
          <p:cNvSpPr/>
          <p:nvPr/>
        </p:nvSpPr>
        <p:spPr>
          <a:xfrm>
            <a:off x="762000" y="3238500"/>
            <a:ext cx="6985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"Vera" means Truth in Latin.</a:t>
            </a:r>
            <a:endParaRPr b="0" i="0" sz="1600" u="none" cap="none" strike="noStrike"/>
          </a:p>
        </p:txBody>
      </p:sp>
      <p:sp>
        <p:nvSpPr>
          <p:cNvPr id="110" name="Google Shape;110;p8"/>
          <p:cNvSpPr/>
          <p:nvPr/>
        </p:nvSpPr>
        <p:spPr>
          <a:xfrm>
            <a:off x="762000" y="3873500"/>
            <a:ext cx="6985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 a symptom checker. Not a generic health app. A focused system that catches cancer risk before it becomes a crisis.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VERA is for everyone — any age, any gender, any location.</a:t>
            </a:r>
            <a:endParaRPr b="0" i="0" sz="1600" u="none" cap="none" strike="noStrike"/>
          </a:p>
        </p:txBody>
      </p:sp>
      <p:sp>
        <p:nvSpPr>
          <p:cNvPr id="111" name="Google Shape;111;p8"/>
          <p:cNvSpPr/>
          <p:nvPr/>
        </p:nvSpPr>
        <p:spPr>
          <a:xfrm>
            <a:off x="762000" y="5651500"/>
            <a:ext cx="254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VERA'S VOICE</a:t>
            </a:r>
            <a:endParaRPr b="0" i="0" sz="1600" u="none" cap="none" strike="noStrike"/>
          </a:p>
        </p:txBody>
      </p:sp>
      <p:sp>
        <p:nvSpPr>
          <p:cNvPr id="112" name="Google Shape;112;p8"/>
          <p:cNvSpPr/>
          <p:nvPr/>
        </p:nvSpPr>
        <p:spPr>
          <a:xfrm>
            <a:off x="762000" y="6096000"/>
            <a:ext cx="698500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1016000" y="6159500"/>
            <a:ext cx="6477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"I'm here to understand you, not to judge."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Warm, unhurried, never clinical or alarming.</a:t>
            </a:r>
            <a:endParaRPr b="0" i="0" sz="1600" u="none" cap="none" strike="noStrike"/>
          </a:p>
        </p:txBody>
      </p:sp>
      <p:sp>
        <p:nvSpPr>
          <p:cNvPr id="114" name="Google Shape;114;p8"/>
          <p:cNvSpPr/>
          <p:nvPr/>
        </p:nvSpPr>
        <p:spPr>
          <a:xfrm>
            <a:off x="8382000" y="19685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FOUR SPECIALIZED AGENTS</a:t>
            </a:r>
            <a:endParaRPr b="0" i="0" sz="1600" u="none" cap="none" strike="noStrike"/>
          </a:p>
        </p:txBody>
      </p:sp>
      <p:sp>
        <p:nvSpPr>
          <p:cNvPr id="115" name="Google Shape;115;p8"/>
          <p:cNvSpPr/>
          <p:nvPr/>
        </p:nvSpPr>
        <p:spPr>
          <a:xfrm>
            <a:off x="8382000" y="2476500"/>
            <a:ext cx="711200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8382000" y="2476500"/>
            <a:ext cx="50800" cy="11430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8604250" y="2730500"/>
            <a:ext cx="571500" cy="508000"/>
          </a:xfrm>
          <a:custGeom>
            <a:rect b="b" l="l" r="r" t="t"/>
            <a:pathLst>
              <a:path extrusionOk="0" h="508000" w="571500">
                <a:moveTo>
                  <a:pt x="31750" y="47625"/>
                </a:moveTo>
                <a:cubicBezTo>
                  <a:pt x="31750" y="21332"/>
                  <a:pt x="53082" y="0"/>
                  <a:pt x="79375" y="0"/>
                </a:cubicBezTo>
                <a:lnTo>
                  <a:pt x="127000" y="0"/>
                </a:lnTo>
                <a:cubicBezTo>
                  <a:pt x="144562" y="0"/>
                  <a:pt x="158750" y="14188"/>
                  <a:pt x="158750" y="31750"/>
                </a:cubicBezTo>
                <a:cubicBezTo>
                  <a:pt x="158750" y="49312"/>
                  <a:pt x="144562" y="63500"/>
                  <a:pt x="127000" y="63500"/>
                </a:cubicBezTo>
                <a:lnTo>
                  <a:pt x="95250" y="63500"/>
                </a:lnTo>
                <a:lnTo>
                  <a:pt x="95250" y="190500"/>
                </a:lnTo>
                <a:cubicBezTo>
                  <a:pt x="95250" y="243086"/>
                  <a:pt x="137914" y="285750"/>
                  <a:pt x="190500" y="285750"/>
                </a:cubicBezTo>
                <a:cubicBezTo>
                  <a:pt x="243086" y="285750"/>
                  <a:pt x="285750" y="243086"/>
                  <a:pt x="285750" y="190500"/>
                </a:cubicBezTo>
                <a:lnTo>
                  <a:pt x="285750" y="63500"/>
                </a:lnTo>
                <a:lnTo>
                  <a:pt x="254000" y="63500"/>
                </a:lnTo>
                <a:cubicBezTo>
                  <a:pt x="236438" y="63500"/>
                  <a:pt x="222250" y="49312"/>
                  <a:pt x="222250" y="31750"/>
                </a:cubicBezTo>
                <a:cubicBezTo>
                  <a:pt x="222250" y="14188"/>
                  <a:pt x="236438" y="0"/>
                  <a:pt x="254000" y="0"/>
                </a:cubicBezTo>
                <a:lnTo>
                  <a:pt x="301625" y="0"/>
                </a:lnTo>
                <a:cubicBezTo>
                  <a:pt x="327918" y="0"/>
                  <a:pt x="349250" y="21332"/>
                  <a:pt x="349250" y="47625"/>
                </a:cubicBezTo>
                <a:lnTo>
                  <a:pt x="349250" y="190500"/>
                </a:lnTo>
                <a:cubicBezTo>
                  <a:pt x="349250" y="267295"/>
                  <a:pt x="294680" y="331391"/>
                  <a:pt x="222250" y="346075"/>
                </a:cubicBezTo>
                <a:lnTo>
                  <a:pt x="222250" y="365125"/>
                </a:lnTo>
                <a:cubicBezTo>
                  <a:pt x="222250" y="426541"/>
                  <a:pt x="271959" y="476250"/>
                  <a:pt x="333375" y="476250"/>
                </a:cubicBezTo>
                <a:cubicBezTo>
                  <a:pt x="394791" y="476250"/>
                  <a:pt x="444500" y="426541"/>
                  <a:pt x="444500" y="365125"/>
                </a:cubicBezTo>
                <a:lnTo>
                  <a:pt x="444500" y="280293"/>
                </a:lnTo>
                <a:cubicBezTo>
                  <a:pt x="407491" y="267196"/>
                  <a:pt x="381000" y="231973"/>
                  <a:pt x="381000" y="190500"/>
                </a:cubicBezTo>
                <a:cubicBezTo>
                  <a:pt x="381000" y="137914"/>
                  <a:pt x="423664" y="95250"/>
                  <a:pt x="476250" y="95250"/>
                </a:cubicBezTo>
                <a:cubicBezTo>
                  <a:pt x="528836" y="95250"/>
                  <a:pt x="571500" y="137914"/>
                  <a:pt x="571500" y="190500"/>
                </a:cubicBezTo>
                <a:cubicBezTo>
                  <a:pt x="571500" y="231973"/>
                  <a:pt x="545009" y="267295"/>
                  <a:pt x="508000" y="280293"/>
                </a:cubicBezTo>
                <a:lnTo>
                  <a:pt x="508000" y="365125"/>
                </a:lnTo>
                <a:cubicBezTo>
                  <a:pt x="508000" y="461566"/>
                  <a:pt x="429816" y="539750"/>
                  <a:pt x="333375" y="539750"/>
                </a:cubicBezTo>
                <a:cubicBezTo>
                  <a:pt x="236934" y="539750"/>
                  <a:pt x="158750" y="461566"/>
                  <a:pt x="158750" y="365125"/>
                </a:cubicBezTo>
                <a:lnTo>
                  <a:pt x="158750" y="346075"/>
                </a:lnTo>
                <a:cubicBezTo>
                  <a:pt x="86320" y="331391"/>
                  <a:pt x="31750" y="267295"/>
                  <a:pt x="31750" y="190500"/>
                </a:cubicBezTo>
                <a:lnTo>
                  <a:pt x="31750" y="47625"/>
                </a:lnTo>
                <a:close/>
                <a:moveTo>
                  <a:pt x="476250" y="222250"/>
                </a:moveTo>
                <a:cubicBezTo>
                  <a:pt x="493773" y="222250"/>
                  <a:pt x="508000" y="208023"/>
                  <a:pt x="508000" y="190500"/>
                </a:cubicBezTo>
                <a:cubicBezTo>
                  <a:pt x="508000" y="172977"/>
                  <a:pt x="493773" y="158750"/>
                  <a:pt x="476250" y="158750"/>
                </a:cubicBezTo>
                <a:cubicBezTo>
                  <a:pt x="458727" y="158750"/>
                  <a:pt x="444500" y="172977"/>
                  <a:pt x="444500" y="190500"/>
                </a:cubicBezTo>
                <a:cubicBezTo>
                  <a:pt x="444500" y="208023"/>
                  <a:pt x="458727" y="222250"/>
                  <a:pt x="476250" y="222250"/>
                </a:cubicBezTo>
                <a:close/>
              </a:path>
            </a:pathLst>
          </a:cu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9334500" y="2603500"/>
            <a:ext cx="59055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3B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Profiler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Scores cancer risk from your profile using MedGemma</a:t>
            </a:r>
            <a:endParaRPr b="0" i="0" sz="1600" u="none" cap="none" strike="noStrike"/>
          </a:p>
        </p:txBody>
      </p:sp>
      <p:sp>
        <p:nvSpPr>
          <p:cNvPr id="119" name="Google Shape;119;p8"/>
          <p:cNvSpPr/>
          <p:nvPr/>
        </p:nvSpPr>
        <p:spPr>
          <a:xfrm>
            <a:off x="8382000" y="3810000"/>
            <a:ext cx="711200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8382000" y="3810000"/>
            <a:ext cx="50800" cy="11430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8572500" y="4064000"/>
            <a:ext cx="635000" cy="508000"/>
          </a:xfrm>
          <a:custGeom>
            <a:rect b="b" l="l" r="r" t="t"/>
            <a:pathLst>
              <a:path extrusionOk="0" h="508000" w="635000">
                <a:moveTo>
                  <a:pt x="571500" y="47625"/>
                </a:moveTo>
                <a:cubicBezTo>
                  <a:pt x="571500" y="36612"/>
                  <a:pt x="565845" y="26392"/>
                  <a:pt x="556419" y="20638"/>
                </a:cubicBezTo>
                <a:cubicBezTo>
                  <a:pt x="546993" y="14883"/>
                  <a:pt x="535384" y="14288"/>
                  <a:pt x="525562" y="19248"/>
                </a:cubicBezTo>
                <a:lnTo>
                  <a:pt x="410270" y="76895"/>
                </a:lnTo>
                <a:lnTo>
                  <a:pt x="232271" y="17463"/>
                </a:lnTo>
                <a:cubicBezTo>
                  <a:pt x="224234" y="14784"/>
                  <a:pt x="215602" y="15379"/>
                  <a:pt x="208062" y="19149"/>
                </a:cubicBezTo>
                <a:lnTo>
                  <a:pt x="81062" y="82649"/>
                </a:lnTo>
                <a:cubicBezTo>
                  <a:pt x="70247" y="88106"/>
                  <a:pt x="63500" y="99120"/>
                  <a:pt x="63500" y="111125"/>
                </a:cubicBezTo>
                <a:lnTo>
                  <a:pt x="63500" y="460375"/>
                </a:lnTo>
                <a:cubicBezTo>
                  <a:pt x="63500" y="471388"/>
                  <a:pt x="69155" y="481608"/>
                  <a:pt x="78581" y="487362"/>
                </a:cubicBezTo>
                <a:cubicBezTo>
                  <a:pt x="88007" y="493117"/>
                  <a:pt x="99616" y="493712"/>
                  <a:pt x="109438" y="488752"/>
                </a:cubicBezTo>
                <a:lnTo>
                  <a:pt x="224631" y="431105"/>
                </a:lnTo>
                <a:lnTo>
                  <a:pt x="396577" y="488454"/>
                </a:lnTo>
                <a:cubicBezTo>
                  <a:pt x="392311" y="482104"/>
                  <a:pt x="388144" y="475456"/>
                  <a:pt x="384076" y="468709"/>
                </a:cubicBezTo>
                <a:cubicBezTo>
                  <a:pt x="373162" y="450552"/>
                  <a:pt x="362347" y="429716"/>
                  <a:pt x="354310" y="407392"/>
                </a:cubicBezTo>
                <a:lnTo>
                  <a:pt x="253901" y="373955"/>
                </a:lnTo>
                <a:lnTo>
                  <a:pt x="253901" y="91678"/>
                </a:lnTo>
                <a:lnTo>
                  <a:pt x="380901" y="134045"/>
                </a:lnTo>
                <a:lnTo>
                  <a:pt x="380901" y="232569"/>
                </a:lnTo>
                <a:cubicBezTo>
                  <a:pt x="411659" y="197048"/>
                  <a:pt x="457299" y="174625"/>
                  <a:pt x="507901" y="174625"/>
                </a:cubicBezTo>
                <a:cubicBezTo>
                  <a:pt x="530324" y="174625"/>
                  <a:pt x="551755" y="178991"/>
                  <a:pt x="571401" y="187027"/>
                </a:cubicBezTo>
                <a:lnTo>
                  <a:pt x="571500" y="47625"/>
                </a:lnTo>
                <a:close/>
                <a:moveTo>
                  <a:pt x="508000" y="222250"/>
                </a:moveTo>
                <a:cubicBezTo>
                  <a:pt x="442218" y="222250"/>
                  <a:pt x="388938" y="274638"/>
                  <a:pt x="388938" y="339229"/>
                </a:cubicBezTo>
                <a:cubicBezTo>
                  <a:pt x="388938" y="407591"/>
                  <a:pt x="452537" y="488454"/>
                  <a:pt x="486767" y="527050"/>
                </a:cubicBezTo>
                <a:cubicBezTo>
                  <a:pt x="498277" y="539948"/>
                  <a:pt x="517823" y="539948"/>
                  <a:pt x="529332" y="527050"/>
                </a:cubicBezTo>
                <a:cubicBezTo>
                  <a:pt x="563563" y="488454"/>
                  <a:pt x="627162" y="407591"/>
                  <a:pt x="627162" y="339229"/>
                </a:cubicBezTo>
                <a:cubicBezTo>
                  <a:pt x="627162" y="274638"/>
                  <a:pt x="573881" y="222250"/>
                  <a:pt x="508099" y="222250"/>
                </a:cubicBezTo>
                <a:close/>
                <a:moveTo>
                  <a:pt x="468313" y="341313"/>
                </a:moveTo>
                <a:cubicBezTo>
                  <a:pt x="468313" y="319408"/>
                  <a:pt x="486096" y="301625"/>
                  <a:pt x="508000" y="301625"/>
                </a:cubicBezTo>
                <a:cubicBezTo>
                  <a:pt x="529904" y="301625"/>
                  <a:pt x="547688" y="319408"/>
                  <a:pt x="547688" y="341313"/>
                </a:cubicBezTo>
                <a:cubicBezTo>
                  <a:pt x="547688" y="363217"/>
                  <a:pt x="529904" y="381000"/>
                  <a:pt x="508000" y="381000"/>
                </a:cubicBezTo>
                <a:cubicBezTo>
                  <a:pt x="486096" y="381000"/>
                  <a:pt x="468313" y="363217"/>
                  <a:pt x="468313" y="341313"/>
                </a:cubicBezTo>
                <a:close/>
              </a:path>
            </a:pathLst>
          </a:custGeom>
          <a:solidFill>
            <a:srgbClr val="6B8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9334500" y="3937000"/>
            <a:ext cx="59055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3B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Care Navigator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Finds specialists, government schemes, screening camps</a:t>
            </a:r>
            <a:endParaRPr b="0" i="0" sz="1600" u="none" cap="none" strike="noStrike"/>
          </a:p>
        </p:txBody>
      </p:sp>
      <p:sp>
        <p:nvSpPr>
          <p:cNvPr id="123" name="Google Shape;123;p8"/>
          <p:cNvSpPr/>
          <p:nvPr/>
        </p:nvSpPr>
        <p:spPr>
          <a:xfrm>
            <a:off x="8382000" y="5143500"/>
            <a:ext cx="711200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8382000" y="5143500"/>
            <a:ext cx="50800" cy="1143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8699500" y="5397500"/>
            <a:ext cx="381000" cy="508000"/>
          </a:xfrm>
          <a:custGeom>
            <a:rect b="b" l="l" r="r" t="t"/>
            <a:pathLst>
              <a:path extrusionOk="0" h="508000" w="381000">
                <a:moveTo>
                  <a:pt x="0" y="63500"/>
                </a:moveTo>
                <a:cubicBezTo>
                  <a:pt x="0" y="28476"/>
                  <a:pt x="28476" y="0"/>
                  <a:pt x="63500" y="0"/>
                </a:cubicBezTo>
                <a:lnTo>
                  <a:pt x="211832" y="0"/>
                </a:lnTo>
                <a:cubicBezTo>
                  <a:pt x="228699" y="0"/>
                  <a:pt x="244872" y="6648"/>
                  <a:pt x="256778" y="18554"/>
                </a:cubicBezTo>
                <a:lnTo>
                  <a:pt x="362446" y="124321"/>
                </a:lnTo>
                <a:cubicBezTo>
                  <a:pt x="374352" y="136227"/>
                  <a:pt x="381000" y="152400"/>
                  <a:pt x="381000" y="169267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63500"/>
                </a:lnTo>
                <a:close/>
                <a:moveTo>
                  <a:pt x="206375" y="58043"/>
                </a:moveTo>
                <a:lnTo>
                  <a:pt x="206375" y="150813"/>
                </a:lnTo>
                <a:cubicBezTo>
                  <a:pt x="206375" y="164009"/>
                  <a:pt x="216991" y="174625"/>
                  <a:pt x="230188" y="174625"/>
                </a:cubicBezTo>
                <a:lnTo>
                  <a:pt x="322957" y="174625"/>
                </a:lnTo>
                <a:lnTo>
                  <a:pt x="206375" y="58043"/>
                </a:lnTo>
                <a:close/>
                <a:moveTo>
                  <a:pt x="158750" y="277813"/>
                </a:moveTo>
                <a:lnTo>
                  <a:pt x="158750" y="317500"/>
                </a:lnTo>
                <a:lnTo>
                  <a:pt x="119063" y="317500"/>
                </a:lnTo>
                <a:cubicBezTo>
                  <a:pt x="110331" y="317500"/>
                  <a:pt x="103188" y="324644"/>
                  <a:pt x="103188" y="333375"/>
                </a:cubicBezTo>
                <a:lnTo>
                  <a:pt x="103188" y="365125"/>
                </a:lnTo>
                <a:cubicBezTo>
                  <a:pt x="103188" y="373856"/>
                  <a:pt x="110331" y="381000"/>
                  <a:pt x="119063" y="381000"/>
                </a:cubicBezTo>
                <a:lnTo>
                  <a:pt x="158750" y="381000"/>
                </a:lnTo>
                <a:lnTo>
                  <a:pt x="158750" y="420688"/>
                </a:lnTo>
                <a:cubicBezTo>
                  <a:pt x="158750" y="429419"/>
                  <a:pt x="165894" y="436563"/>
                  <a:pt x="174625" y="436563"/>
                </a:cubicBezTo>
                <a:lnTo>
                  <a:pt x="206375" y="436563"/>
                </a:lnTo>
                <a:cubicBezTo>
                  <a:pt x="215106" y="436563"/>
                  <a:pt x="222250" y="429419"/>
                  <a:pt x="222250" y="420688"/>
                </a:cubicBezTo>
                <a:lnTo>
                  <a:pt x="222250" y="381000"/>
                </a:lnTo>
                <a:lnTo>
                  <a:pt x="261937" y="381000"/>
                </a:lnTo>
                <a:cubicBezTo>
                  <a:pt x="270669" y="381000"/>
                  <a:pt x="277813" y="373856"/>
                  <a:pt x="277813" y="365125"/>
                </a:cubicBezTo>
                <a:lnTo>
                  <a:pt x="277813" y="333375"/>
                </a:lnTo>
                <a:cubicBezTo>
                  <a:pt x="277813" y="324644"/>
                  <a:pt x="270669" y="317500"/>
                  <a:pt x="261937" y="317500"/>
                </a:cubicBezTo>
                <a:lnTo>
                  <a:pt x="222250" y="317500"/>
                </a:lnTo>
                <a:lnTo>
                  <a:pt x="222250" y="277813"/>
                </a:lnTo>
                <a:cubicBezTo>
                  <a:pt x="222250" y="269081"/>
                  <a:pt x="215106" y="261937"/>
                  <a:pt x="206375" y="261937"/>
                </a:cubicBezTo>
                <a:lnTo>
                  <a:pt x="174625" y="261937"/>
                </a:lnTo>
                <a:cubicBezTo>
                  <a:pt x="165894" y="261937"/>
                  <a:pt x="158750" y="269081"/>
                  <a:pt x="158750" y="277813"/>
                </a:cubicBezTo>
                <a:close/>
              </a:path>
            </a:pathLst>
          </a:cu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9334500" y="5270500"/>
            <a:ext cx="59055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3B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Records Explainer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Reads lab reports and MRIs, explains in plain language</a:t>
            </a:r>
            <a:endParaRPr b="0" i="0" sz="1600" u="none" cap="none" strike="noStrike"/>
          </a:p>
        </p:txBody>
      </p:sp>
      <p:sp>
        <p:nvSpPr>
          <p:cNvPr id="127" name="Google Shape;127;p8"/>
          <p:cNvSpPr/>
          <p:nvPr/>
        </p:nvSpPr>
        <p:spPr>
          <a:xfrm>
            <a:off x="8382000" y="6477000"/>
            <a:ext cx="711200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8382000" y="6477000"/>
            <a:ext cx="50800" cy="11430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8636000" y="6731000"/>
            <a:ext cx="508000" cy="508000"/>
          </a:xfrm>
          <a:custGeom>
            <a:rect b="b" l="l" r="r" t="t"/>
            <a:pathLst>
              <a:path extrusionOk="0" h="508000" w="508000">
                <a:moveTo>
                  <a:pt x="254000" y="107057"/>
                </a:moveTo>
                <a:lnTo>
                  <a:pt x="239117" y="86420"/>
                </a:lnTo>
                <a:cubicBezTo>
                  <a:pt x="214313" y="52090"/>
                  <a:pt x="174526" y="31750"/>
                  <a:pt x="132060" y="31750"/>
                </a:cubicBezTo>
                <a:cubicBezTo>
                  <a:pt x="59134" y="31750"/>
                  <a:pt x="0" y="90884"/>
                  <a:pt x="0" y="163810"/>
                </a:cubicBezTo>
                <a:lnTo>
                  <a:pt x="0" y="166390"/>
                </a:lnTo>
                <a:cubicBezTo>
                  <a:pt x="0" y="189805"/>
                  <a:pt x="6152" y="214015"/>
                  <a:pt x="16470" y="238125"/>
                </a:cubicBezTo>
                <a:lnTo>
                  <a:pt x="121642" y="238125"/>
                </a:lnTo>
                <a:cubicBezTo>
                  <a:pt x="124817" y="238125"/>
                  <a:pt x="127695" y="236240"/>
                  <a:pt x="128984" y="233263"/>
                </a:cubicBezTo>
                <a:lnTo>
                  <a:pt x="160536" y="157559"/>
                </a:lnTo>
                <a:cubicBezTo>
                  <a:pt x="164207" y="148828"/>
                  <a:pt x="172740" y="143073"/>
                  <a:pt x="182166" y="142875"/>
                </a:cubicBezTo>
                <a:cubicBezTo>
                  <a:pt x="191591" y="142677"/>
                  <a:pt x="200323" y="148233"/>
                  <a:pt x="204192" y="156865"/>
                </a:cubicBezTo>
                <a:lnTo>
                  <a:pt x="255091" y="269875"/>
                </a:lnTo>
                <a:lnTo>
                  <a:pt x="296168" y="187722"/>
                </a:lnTo>
                <a:cubicBezTo>
                  <a:pt x="300236" y="179685"/>
                  <a:pt x="308471" y="174526"/>
                  <a:pt x="317500" y="174526"/>
                </a:cubicBezTo>
                <a:cubicBezTo>
                  <a:pt x="326529" y="174526"/>
                  <a:pt x="334764" y="179586"/>
                  <a:pt x="338832" y="187722"/>
                </a:cubicBezTo>
                <a:lnTo>
                  <a:pt x="361851" y="233660"/>
                </a:lnTo>
                <a:cubicBezTo>
                  <a:pt x="363240" y="236339"/>
                  <a:pt x="365919" y="238026"/>
                  <a:pt x="368995" y="238026"/>
                </a:cubicBezTo>
                <a:lnTo>
                  <a:pt x="491629" y="238026"/>
                </a:lnTo>
                <a:cubicBezTo>
                  <a:pt x="502047" y="213916"/>
                  <a:pt x="508099" y="189706"/>
                  <a:pt x="508099" y="166291"/>
                </a:cubicBezTo>
                <a:lnTo>
                  <a:pt x="508099" y="163711"/>
                </a:lnTo>
                <a:cubicBezTo>
                  <a:pt x="508000" y="90884"/>
                  <a:pt x="448866" y="31750"/>
                  <a:pt x="375940" y="31750"/>
                </a:cubicBezTo>
                <a:cubicBezTo>
                  <a:pt x="333573" y="31750"/>
                  <a:pt x="293688" y="52090"/>
                  <a:pt x="268883" y="86420"/>
                </a:cubicBezTo>
                <a:lnTo>
                  <a:pt x="254000" y="106958"/>
                </a:lnTo>
                <a:close/>
                <a:moveTo>
                  <a:pt x="465931" y="285750"/>
                </a:moveTo>
                <a:lnTo>
                  <a:pt x="368895" y="285750"/>
                </a:lnTo>
                <a:cubicBezTo>
                  <a:pt x="347861" y="285750"/>
                  <a:pt x="328613" y="273844"/>
                  <a:pt x="319187" y="254992"/>
                </a:cubicBezTo>
                <a:lnTo>
                  <a:pt x="317500" y="251619"/>
                </a:lnTo>
                <a:lnTo>
                  <a:pt x="275332" y="336054"/>
                </a:lnTo>
                <a:cubicBezTo>
                  <a:pt x="271264" y="344289"/>
                  <a:pt x="262731" y="349448"/>
                  <a:pt x="253504" y="349250"/>
                </a:cubicBezTo>
                <a:cubicBezTo>
                  <a:pt x="244277" y="349052"/>
                  <a:pt x="236041" y="343595"/>
                  <a:pt x="232271" y="335260"/>
                </a:cubicBezTo>
                <a:lnTo>
                  <a:pt x="183356" y="226616"/>
                </a:lnTo>
                <a:lnTo>
                  <a:pt x="172938" y="251619"/>
                </a:lnTo>
                <a:cubicBezTo>
                  <a:pt x="164306" y="272355"/>
                  <a:pt x="144066" y="285849"/>
                  <a:pt x="121642" y="285849"/>
                </a:cubicBezTo>
                <a:lnTo>
                  <a:pt x="42069" y="285849"/>
                </a:lnTo>
                <a:cubicBezTo>
                  <a:pt x="88900" y="359073"/>
                  <a:pt x="164108" y="426442"/>
                  <a:pt x="211138" y="462359"/>
                </a:cubicBezTo>
                <a:cubicBezTo>
                  <a:pt x="223441" y="471686"/>
                  <a:pt x="238522" y="476349"/>
                  <a:pt x="253901" y="476349"/>
                </a:cubicBezTo>
                <a:cubicBezTo>
                  <a:pt x="269280" y="476349"/>
                  <a:pt x="284460" y="471785"/>
                  <a:pt x="296664" y="462359"/>
                </a:cubicBezTo>
                <a:cubicBezTo>
                  <a:pt x="343892" y="426343"/>
                  <a:pt x="419100" y="358973"/>
                  <a:pt x="465931" y="285750"/>
                </a:cubicBezTo>
                <a:close/>
              </a:path>
            </a:pathLst>
          </a:cu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9334500" y="6604000"/>
            <a:ext cx="59055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3B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Companion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Proactive check-ins, reminders, persistent health timeline</a:t>
            </a:r>
            <a:endParaRPr b="0" i="0" sz="1600" u="none" cap="none" strike="noStrike"/>
          </a:p>
        </p:txBody>
      </p:sp>
      <p:sp>
        <p:nvSpPr>
          <p:cNvPr id="131" name="Google Shape;131;p8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139" name="Google Shape;139;p9"/>
          <p:cNvSpPr/>
          <p:nvPr/>
        </p:nvSpPr>
        <p:spPr>
          <a:xfrm>
            <a:off x="762000" y="889000"/>
            <a:ext cx="1778000" cy="406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762000" y="8890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AGENT 1</a:t>
            </a:r>
            <a:endParaRPr b="0" i="0" sz="1600" u="none" cap="none" strike="noStrike"/>
          </a:p>
        </p:txBody>
      </p:sp>
      <p:sp>
        <p:nvSpPr>
          <p:cNvPr id="141" name="Google Shape;141;p9"/>
          <p:cNvSpPr/>
          <p:nvPr/>
        </p:nvSpPr>
        <p:spPr>
          <a:xfrm>
            <a:off x="2794000" y="863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Risk Profiler</a:t>
            </a:r>
            <a:endParaRPr b="0" i="0" sz="3000" u="none" cap="none" strike="noStrike"/>
          </a:p>
        </p:txBody>
      </p:sp>
      <p:sp>
        <p:nvSpPr>
          <p:cNvPr id="142" name="Google Shape;142;p9"/>
          <p:cNvSpPr/>
          <p:nvPr/>
        </p:nvSpPr>
        <p:spPr>
          <a:xfrm>
            <a:off x="762000" y="1498600"/>
            <a:ext cx="762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762000" y="1778000"/>
            <a:ext cx="711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Transforms a </a:t>
            </a:r>
            <a:r>
              <a:rPr b="1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2-minute conversation</a:t>
            </a: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into a personalized cancer risk fingerprint. Replaces fear and confusion with clarity.</a:t>
            </a:r>
            <a:endParaRPr b="0" i="0" sz="1600" u="none" cap="none" strike="noStrike"/>
          </a:p>
        </p:txBody>
      </p:sp>
      <p:sp>
        <p:nvSpPr>
          <p:cNvPr id="144" name="Google Shape;144;p9"/>
          <p:cNvSpPr/>
          <p:nvPr/>
        </p:nvSpPr>
        <p:spPr>
          <a:xfrm>
            <a:off x="762000" y="27940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8 CONVERSATIONAL QUESTIONS</a:t>
            </a:r>
            <a:endParaRPr b="0" i="0" sz="1600" u="none" cap="none" strike="noStrike"/>
          </a:p>
        </p:txBody>
      </p:sp>
      <p:graphicFrame>
        <p:nvGraphicFramePr>
          <p:cNvPr id="145" name="Google Shape;145;p9"/>
          <p:cNvGraphicFramePr/>
          <p:nvPr/>
        </p:nvGraphicFramePr>
        <p:xfrm>
          <a:off x="762000" y="323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{C34E8D15-272D-48B7-8755-107E12BFE031}</a:tableStyleId>
              </a:tblPr>
              <a:tblGrid>
                <a:gridCol w="568950"/>
                <a:gridCol w="3698250"/>
                <a:gridCol w="2844800"/>
              </a:tblGrid>
              <a:tr h="3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5F0E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#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B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5F0E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Question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B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5F0E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Captures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B3B"/>
                    </a:solidFill>
                  </a:tcPr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How old are you?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Age-based risk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Family history of cancer?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Hereditary risk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When was your last screening?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Screening gap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Received HPV vaccine?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HPV risk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Do you smoke?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Lifestyle risk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Where do you live?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Scheme + clinic match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Any recent symptoms?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Urgency flag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Preferred language?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Multilingual routing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146" name="Google Shape;146;p9"/>
          <p:cNvSpPr/>
          <p:nvPr/>
        </p:nvSpPr>
        <p:spPr>
          <a:xfrm>
            <a:off x="8382000" y="1778000"/>
            <a:ext cx="7112000" cy="5461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8763000" y="20320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RISK OUTPUT</a:t>
            </a:r>
            <a:endParaRPr b="0" i="0" sz="1600" u="none" cap="none" strike="noStrike"/>
          </a:p>
        </p:txBody>
      </p:sp>
      <p:sp>
        <p:nvSpPr>
          <p:cNvPr id="148" name="Google Shape;148;p9"/>
          <p:cNvSpPr/>
          <p:nvPr/>
        </p:nvSpPr>
        <p:spPr>
          <a:xfrm>
            <a:off x="8763000" y="2540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MODERATE RISK</a:t>
            </a:r>
            <a:endParaRPr b="0" i="0" sz="1600" u="none" cap="none" strike="noStrike"/>
          </a:p>
        </p:txBody>
      </p:sp>
      <p:sp>
        <p:nvSpPr>
          <p:cNvPr id="149" name="Google Shape;149;p9"/>
          <p:cNvSpPr/>
          <p:nvPr/>
        </p:nvSpPr>
        <p:spPr>
          <a:xfrm>
            <a:off x="8763000" y="3365500"/>
            <a:ext cx="6350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Cancer types flagged: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Cervical, Breast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Screening overdue by: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years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Family history: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Mother — breast cancer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Clinical reasoning provided by MedGemma</a:t>
            </a:r>
            <a:endParaRPr b="0" i="0" sz="1600" u="none" cap="none" strike="noStrike"/>
          </a:p>
        </p:txBody>
      </p:sp>
      <p:sp>
        <p:nvSpPr>
          <p:cNvPr id="150" name="Google Shape;150;p9"/>
          <p:cNvSpPr/>
          <p:nvPr/>
        </p:nvSpPr>
        <p:spPr>
          <a:xfrm>
            <a:off x="8763000" y="54610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POWERED BY</a:t>
            </a:r>
            <a:endParaRPr b="0" i="0" sz="1600" u="none" cap="none" strike="noStrike"/>
          </a:p>
        </p:txBody>
      </p:sp>
      <p:sp>
        <p:nvSpPr>
          <p:cNvPr id="151" name="Google Shape;151;p9"/>
          <p:cNvSpPr/>
          <p:nvPr/>
        </p:nvSpPr>
        <p:spPr>
          <a:xfrm>
            <a:off x="8763000" y="5905500"/>
            <a:ext cx="635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Gemini 2.0 Flash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conversational flow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MedGemma 27B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clinical risk scoring</a:t>
            </a:r>
            <a:endParaRPr b="0" i="0" sz="1600" u="none" cap="none" strike="noStrike"/>
          </a:p>
        </p:txBody>
      </p:sp>
      <p:sp>
        <p:nvSpPr>
          <p:cNvPr id="152" name="Google Shape;152;p9"/>
          <p:cNvSpPr/>
          <p:nvPr/>
        </p:nvSpPr>
        <p:spPr>
          <a:xfrm>
            <a:off x="762000" y="7112000"/>
            <a:ext cx="7112000" cy="635000"/>
          </a:xfrm>
          <a:prstGeom prst="rect">
            <a:avLst/>
          </a:prstGeom>
          <a:solidFill>
            <a:srgbClr val="E8705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1016000" y="7112000"/>
            <a:ext cx="6604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Reconciler mode:</a:t>
            </a: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Re-runs when new clinical signals arrive from uploaded reports.</a:t>
            </a:r>
            <a:endParaRPr b="0" i="0" sz="1600" u="none" cap="none" strike="noStrike"/>
          </a:p>
        </p:txBody>
      </p:sp>
      <p:sp>
        <p:nvSpPr>
          <p:cNvPr id="154" name="Google Shape;154;p9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162" name="Google Shape;162;p10"/>
          <p:cNvSpPr/>
          <p:nvPr/>
        </p:nvSpPr>
        <p:spPr>
          <a:xfrm>
            <a:off x="762000" y="889000"/>
            <a:ext cx="1778000" cy="4064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762000" y="8890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AGENT 2</a:t>
            </a:r>
            <a:endParaRPr b="0" i="0" sz="1600" u="none" cap="none" strike="noStrike"/>
          </a:p>
        </p:txBody>
      </p:sp>
      <p:sp>
        <p:nvSpPr>
          <p:cNvPr id="164" name="Google Shape;164;p10"/>
          <p:cNvSpPr/>
          <p:nvPr/>
        </p:nvSpPr>
        <p:spPr>
          <a:xfrm>
            <a:off x="2794000" y="863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Care Navigator</a:t>
            </a:r>
            <a:endParaRPr b="0" i="0" sz="3000" u="none" cap="none" strike="noStrike"/>
          </a:p>
        </p:txBody>
      </p:sp>
      <p:sp>
        <p:nvSpPr>
          <p:cNvPr id="165" name="Google Shape;165;p10"/>
          <p:cNvSpPr/>
          <p:nvPr/>
        </p:nvSpPr>
        <p:spPr>
          <a:xfrm>
            <a:off x="762000" y="1498600"/>
            <a:ext cx="762000" cy="381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762000" y="1778000"/>
            <a:ext cx="711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Removes cost barriers</a:t>
            </a: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by matching users to free government schemes and nearest screening facilities.</a:t>
            </a:r>
            <a:endParaRPr b="0" i="0" sz="1600" u="none" cap="none" strike="noStrike"/>
          </a:p>
        </p:txBody>
      </p:sp>
      <p:sp>
        <p:nvSpPr>
          <p:cNvPr id="167" name="Google Shape;167;p10"/>
          <p:cNvSpPr/>
          <p:nvPr/>
        </p:nvSpPr>
        <p:spPr>
          <a:xfrm>
            <a:off x="762000" y="27940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GOVERNMENT SCHEMES</a:t>
            </a:r>
            <a:endParaRPr b="0" i="0" sz="1600" u="none" cap="none" strike="noStrike"/>
          </a:p>
        </p:txBody>
      </p:sp>
      <p:sp>
        <p:nvSpPr>
          <p:cNvPr id="168" name="Google Shape;168;p10"/>
          <p:cNvSpPr/>
          <p:nvPr/>
        </p:nvSpPr>
        <p:spPr>
          <a:xfrm>
            <a:off x="762000" y="3238500"/>
            <a:ext cx="3429000" cy="127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952500" y="3365500"/>
            <a:ext cx="635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🇮🇳</a:t>
            </a:r>
            <a:endParaRPr b="0" i="0" sz="1600" u="none" cap="none" strike="noStrike"/>
          </a:p>
        </p:txBody>
      </p:sp>
      <p:sp>
        <p:nvSpPr>
          <p:cNvPr id="170" name="Google Shape;170;p10"/>
          <p:cNvSpPr/>
          <p:nvPr/>
        </p:nvSpPr>
        <p:spPr>
          <a:xfrm>
            <a:off x="952500" y="3683000"/>
            <a:ext cx="3048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Ayushman Bharat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India — free screening</a:t>
            </a:r>
            <a:endParaRPr b="0" i="0" sz="1600" u="none" cap="none" strike="noStrike"/>
          </a:p>
        </p:txBody>
      </p:sp>
      <p:sp>
        <p:nvSpPr>
          <p:cNvPr id="171" name="Google Shape;171;p10"/>
          <p:cNvSpPr/>
          <p:nvPr/>
        </p:nvSpPr>
        <p:spPr>
          <a:xfrm>
            <a:off x="4445000" y="3238500"/>
            <a:ext cx="3429000" cy="127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4635500" y="3365500"/>
            <a:ext cx="3048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NHS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UK — national screening</a:t>
            </a:r>
            <a:endParaRPr b="0" i="0" sz="1600" u="none" cap="none" strike="noStrike"/>
          </a:p>
        </p:txBody>
      </p:sp>
      <p:sp>
        <p:nvSpPr>
          <p:cNvPr id="173" name="Google Shape;173;p10"/>
          <p:cNvSpPr/>
          <p:nvPr/>
        </p:nvSpPr>
        <p:spPr>
          <a:xfrm>
            <a:off x="762000" y="4762500"/>
            <a:ext cx="3429000" cy="127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952500" y="4889500"/>
            <a:ext cx="3048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NHIA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Ghana — health insurance</a:t>
            </a:r>
            <a:endParaRPr b="0" i="0" sz="1600" u="none" cap="none" strike="noStrike"/>
          </a:p>
        </p:txBody>
      </p:sp>
      <p:sp>
        <p:nvSpPr>
          <p:cNvPr id="175" name="Google Shape;175;p10"/>
          <p:cNvSpPr/>
          <p:nvPr/>
        </p:nvSpPr>
        <p:spPr>
          <a:xfrm>
            <a:off x="4445000" y="4762500"/>
            <a:ext cx="3429000" cy="1270000"/>
          </a:xfrm>
          <a:prstGeom prst="rect">
            <a:avLst/>
          </a:prstGeom>
          <a:solidFill>
            <a:srgbClr val="0D3B3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4445000" y="4762500"/>
            <a:ext cx="3429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3B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Add any country</a:t>
            </a:r>
            <a:endParaRPr b="0" i="0" sz="1600" u="none" cap="none" strike="noStrike"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D3B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Scheme data is the only country-specific layer</a:t>
            </a:r>
            <a:endParaRPr b="0" i="0" sz="1600" u="none" cap="none" strike="noStrike"/>
          </a:p>
        </p:txBody>
      </p:sp>
      <p:sp>
        <p:nvSpPr>
          <p:cNvPr id="177" name="Google Shape;177;p10"/>
          <p:cNvSpPr/>
          <p:nvPr/>
        </p:nvSpPr>
        <p:spPr>
          <a:xfrm>
            <a:off x="762000" y="64135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OUTPUT FOR USER</a:t>
            </a:r>
            <a:endParaRPr b="0" i="0" sz="1600" u="none" cap="none" strike="noStrike"/>
          </a:p>
        </p:txBody>
      </p:sp>
      <p:sp>
        <p:nvSpPr>
          <p:cNvPr id="178" name="Google Shape;178;p10"/>
          <p:cNvSpPr/>
          <p:nvPr/>
        </p:nvSpPr>
        <p:spPr>
          <a:xfrm>
            <a:off x="762000" y="6858000"/>
            <a:ext cx="7112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Scheme cards with eligibility in </a:t>
            </a:r>
            <a:r>
              <a:rPr b="1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plain language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Clinic tiles: </a:t>
            </a:r>
            <a:r>
              <a:rPr b="1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nearest</a:t>
            </a: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sorted by distance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CTAs: "Book Now" / "Call to Schedule" / "Walk-in Available"</a:t>
            </a:r>
            <a:endParaRPr b="0" i="0" sz="1600" u="none" cap="none" strike="noStrike"/>
          </a:p>
        </p:txBody>
      </p:sp>
      <p:sp>
        <p:nvSpPr>
          <p:cNvPr id="179" name="Google Shape;179;p10"/>
          <p:cNvSpPr/>
          <p:nvPr/>
        </p:nvSpPr>
        <p:spPr>
          <a:xfrm>
            <a:off x="8382000" y="1778000"/>
            <a:ext cx="7112000" cy="54610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8683625" y="2159000"/>
            <a:ext cx="793750" cy="635000"/>
          </a:xfrm>
          <a:custGeom>
            <a:rect b="b" l="l" r="r" t="t"/>
            <a:pathLst>
              <a:path extrusionOk="0" h="635000" w="793750">
                <a:moveTo>
                  <a:pt x="714375" y="59531"/>
                </a:moveTo>
                <a:cubicBezTo>
                  <a:pt x="714375" y="45765"/>
                  <a:pt x="707306" y="32990"/>
                  <a:pt x="695523" y="25797"/>
                </a:cubicBezTo>
                <a:cubicBezTo>
                  <a:pt x="683741" y="18604"/>
                  <a:pt x="669230" y="17859"/>
                  <a:pt x="656952" y="24061"/>
                </a:cubicBezTo>
                <a:lnTo>
                  <a:pt x="512837" y="96118"/>
                </a:lnTo>
                <a:lnTo>
                  <a:pt x="290339" y="21828"/>
                </a:lnTo>
                <a:cubicBezTo>
                  <a:pt x="280293" y="18479"/>
                  <a:pt x="269503" y="19224"/>
                  <a:pt x="260077" y="23937"/>
                </a:cubicBezTo>
                <a:lnTo>
                  <a:pt x="101327" y="103312"/>
                </a:lnTo>
                <a:cubicBezTo>
                  <a:pt x="87809" y="110133"/>
                  <a:pt x="79375" y="123899"/>
                  <a:pt x="79375" y="138906"/>
                </a:cubicBezTo>
                <a:lnTo>
                  <a:pt x="79375" y="575469"/>
                </a:lnTo>
                <a:cubicBezTo>
                  <a:pt x="79375" y="589235"/>
                  <a:pt x="86444" y="602010"/>
                  <a:pt x="98227" y="609203"/>
                </a:cubicBezTo>
                <a:cubicBezTo>
                  <a:pt x="110009" y="616396"/>
                  <a:pt x="124520" y="617141"/>
                  <a:pt x="136798" y="610939"/>
                </a:cubicBezTo>
                <a:lnTo>
                  <a:pt x="280789" y="538882"/>
                </a:lnTo>
                <a:lnTo>
                  <a:pt x="495722" y="610567"/>
                </a:lnTo>
                <a:cubicBezTo>
                  <a:pt x="490389" y="602630"/>
                  <a:pt x="485180" y="594320"/>
                  <a:pt x="480095" y="585887"/>
                </a:cubicBezTo>
                <a:cubicBezTo>
                  <a:pt x="466452" y="563190"/>
                  <a:pt x="452934" y="537146"/>
                  <a:pt x="442888" y="509240"/>
                </a:cubicBezTo>
                <a:lnTo>
                  <a:pt x="317376" y="467444"/>
                </a:lnTo>
                <a:lnTo>
                  <a:pt x="317376" y="114598"/>
                </a:lnTo>
                <a:lnTo>
                  <a:pt x="476126" y="167556"/>
                </a:lnTo>
                <a:lnTo>
                  <a:pt x="476126" y="290711"/>
                </a:lnTo>
                <a:cubicBezTo>
                  <a:pt x="514573" y="246311"/>
                  <a:pt x="571624" y="218281"/>
                  <a:pt x="634876" y="218281"/>
                </a:cubicBezTo>
                <a:cubicBezTo>
                  <a:pt x="662905" y="218281"/>
                  <a:pt x="689694" y="223738"/>
                  <a:pt x="714251" y="233784"/>
                </a:cubicBezTo>
                <a:lnTo>
                  <a:pt x="714375" y="59531"/>
                </a:lnTo>
                <a:close/>
                <a:moveTo>
                  <a:pt x="635000" y="277813"/>
                </a:moveTo>
                <a:cubicBezTo>
                  <a:pt x="552772" y="277813"/>
                  <a:pt x="486172" y="343297"/>
                  <a:pt x="486172" y="424036"/>
                </a:cubicBezTo>
                <a:cubicBezTo>
                  <a:pt x="486172" y="509488"/>
                  <a:pt x="565671" y="610567"/>
                  <a:pt x="608459" y="658813"/>
                </a:cubicBezTo>
                <a:cubicBezTo>
                  <a:pt x="622846" y="674936"/>
                  <a:pt x="647278" y="674936"/>
                  <a:pt x="661665" y="658813"/>
                </a:cubicBezTo>
                <a:cubicBezTo>
                  <a:pt x="704453" y="610567"/>
                  <a:pt x="783952" y="509488"/>
                  <a:pt x="783952" y="424036"/>
                </a:cubicBezTo>
                <a:cubicBezTo>
                  <a:pt x="783952" y="343297"/>
                  <a:pt x="717352" y="277813"/>
                  <a:pt x="635124" y="277813"/>
                </a:cubicBezTo>
                <a:close/>
                <a:moveTo>
                  <a:pt x="585391" y="426641"/>
                </a:moveTo>
                <a:cubicBezTo>
                  <a:pt x="585391" y="399260"/>
                  <a:pt x="607620" y="377031"/>
                  <a:pt x="635000" y="377031"/>
                </a:cubicBezTo>
                <a:cubicBezTo>
                  <a:pt x="662380" y="377031"/>
                  <a:pt x="684609" y="399260"/>
                  <a:pt x="684609" y="426641"/>
                </a:cubicBezTo>
                <a:cubicBezTo>
                  <a:pt x="684609" y="454021"/>
                  <a:pt x="662380" y="476250"/>
                  <a:pt x="635000" y="476250"/>
                </a:cubicBezTo>
                <a:cubicBezTo>
                  <a:pt x="607620" y="476250"/>
                  <a:pt x="585391" y="454021"/>
                  <a:pt x="585391" y="426641"/>
                </a:cubicBezTo>
                <a:close/>
              </a:path>
            </a:pathLst>
          </a:custGeom>
          <a:solidFill>
            <a:srgbClr val="F5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8763000" y="3048000"/>
            <a:ext cx="635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Location-Aware Matching</a:t>
            </a:r>
            <a:endParaRPr b="0" i="0" sz="1600" u="none" cap="none" strike="noStrike"/>
          </a:p>
        </p:txBody>
      </p:sp>
      <p:sp>
        <p:nvSpPr>
          <p:cNvPr id="182" name="Google Shape;182;p10"/>
          <p:cNvSpPr/>
          <p:nvPr/>
        </p:nvSpPr>
        <p:spPr>
          <a:xfrm>
            <a:off x="8763000" y="3683000"/>
            <a:ext cx="6350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Gemini 2.0 Flash powers location-aware scheme research, clinic identification, and eligibility summarization — all in the user's preferred language.</a:t>
            </a:r>
            <a:endParaRPr b="0" i="0" sz="1600" u="none" cap="none" strike="noStrike"/>
          </a:p>
        </p:txBody>
      </p:sp>
      <p:sp>
        <p:nvSpPr>
          <p:cNvPr id="183" name="Google Shape;183;p10"/>
          <p:cNvSpPr/>
          <p:nvPr/>
        </p:nvSpPr>
        <p:spPr>
          <a:xfrm>
            <a:off x="8763000" y="5588000"/>
            <a:ext cx="635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"Why this matches you"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Personalized explanation for every scheme recommendation</a:t>
            </a:r>
            <a:endParaRPr b="0" i="0" sz="1600" u="none" cap="none" strike="noStrike"/>
          </a:p>
        </p:txBody>
      </p:sp>
      <p:sp>
        <p:nvSpPr>
          <p:cNvPr id="184" name="Google Shape;184;p10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192" name="Google Shape;192;p11"/>
          <p:cNvSpPr/>
          <p:nvPr/>
        </p:nvSpPr>
        <p:spPr>
          <a:xfrm>
            <a:off x="762000" y="889000"/>
            <a:ext cx="1778000" cy="4064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762000" y="8890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AGENT 3</a:t>
            </a:r>
            <a:endParaRPr b="0" i="0" sz="1600" u="none" cap="none" strike="noStrike"/>
          </a:p>
        </p:txBody>
      </p:sp>
      <p:sp>
        <p:nvSpPr>
          <p:cNvPr id="194" name="Google Shape;194;p11"/>
          <p:cNvSpPr/>
          <p:nvPr/>
        </p:nvSpPr>
        <p:spPr>
          <a:xfrm>
            <a:off x="2794000" y="863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Records Explainer</a:t>
            </a:r>
            <a:endParaRPr b="0" i="0" sz="3000" u="none" cap="none" strike="noStrike"/>
          </a:p>
        </p:txBody>
      </p:sp>
      <p:sp>
        <p:nvSpPr>
          <p:cNvPr id="195" name="Google Shape;195;p11"/>
          <p:cNvSpPr/>
          <p:nvPr/>
        </p:nvSpPr>
        <p:spPr>
          <a:xfrm>
            <a:off x="762000" y="1498600"/>
            <a:ext cx="762000" cy="381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762000" y="1778000"/>
            <a:ext cx="711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Replaces fear of the unknown with understanding.</a:t>
            </a: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Reads uploaded lab reports and MRIs — explains in plain language.</a:t>
            </a:r>
            <a:endParaRPr b="0" i="0" sz="1600" u="none" cap="none" strike="noStrike"/>
          </a:p>
        </p:txBody>
      </p:sp>
      <p:sp>
        <p:nvSpPr>
          <p:cNvPr id="197" name="Google Shape;197;p11"/>
          <p:cNvSpPr/>
          <p:nvPr/>
        </p:nvSpPr>
        <p:spPr>
          <a:xfrm>
            <a:off x="762000" y="279400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CRITICAL FEEDBACK LOOP</a:t>
            </a:r>
            <a:endParaRPr b="0" i="0" sz="1600" u="none" cap="none" strike="noStrike"/>
          </a:p>
        </p:txBody>
      </p:sp>
      <p:sp>
        <p:nvSpPr>
          <p:cNvPr id="198" name="Google Shape;198;p11"/>
          <p:cNvSpPr/>
          <p:nvPr/>
        </p:nvSpPr>
        <p:spPr>
          <a:xfrm>
            <a:off x="762000" y="3238500"/>
            <a:ext cx="7112000" cy="1270000"/>
          </a:xfrm>
          <a:prstGeom prst="rect">
            <a:avLst/>
          </a:prstGeom>
          <a:solidFill>
            <a:srgbClr val="E8705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1016000" y="3238500"/>
            <a:ext cx="6604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Extracts </a:t>
            </a:r>
            <a:r>
              <a:rPr b="1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structured clinical signals</a:t>
            </a: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from reports → feeds back into Agent 1 (Risk Profiler) → </a:t>
            </a:r>
            <a:r>
              <a:rPr b="1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re-scores risk</a:t>
            </a: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automatically. This is the emergent capability.</a:t>
            </a:r>
            <a:endParaRPr b="0" i="0" sz="1600" u="none" cap="none" strike="noStrike"/>
          </a:p>
        </p:txBody>
      </p:sp>
      <p:sp>
        <p:nvSpPr>
          <p:cNvPr id="200" name="Google Shape;200;p11"/>
          <p:cNvSpPr/>
          <p:nvPr/>
        </p:nvSpPr>
        <p:spPr>
          <a:xfrm>
            <a:off x="762000" y="45720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EDUCATION CONTENT LIBRARY</a:t>
            </a:r>
            <a:endParaRPr b="0" i="0" sz="1600" u="none" cap="none" strike="noStrike"/>
          </a:p>
        </p:txBody>
      </p:sp>
      <p:graphicFrame>
        <p:nvGraphicFramePr>
          <p:cNvPr id="201" name="Google Shape;201;p11"/>
          <p:cNvGraphicFramePr/>
          <p:nvPr/>
        </p:nvGraphicFramePr>
        <p:xfrm>
          <a:off x="762000" y="501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{C34E8D15-272D-48B7-8755-107E12BFE031}</a:tableStyleId>
              </a:tblPr>
              <a:tblGrid>
                <a:gridCol w="3911600"/>
                <a:gridCol w="1422400"/>
                <a:gridCol w="1778000"/>
              </a:tblGrid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5F0E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Topic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B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5F0E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Duration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B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5F0E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Languages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B3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Breast Self-Examination guide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60s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EN, HI, TA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Pap smear: what to expect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75s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EN, HI, TA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Mammogram: the procedure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60s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EN, HI, TA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early detection saves lives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45s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EN, HI, TA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11"/>
          <p:cNvSpPr/>
          <p:nvPr/>
        </p:nvSpPr>
        <p:spPr>
          <a:xfrm>
            <a:off x="8382000" y="1778000"/>
            <a:ext cx="7112000" cy="5461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8842375" y="2159000"/>
            <a:ext cx="476250" cy="635000"/>
          </a:xfrm>
          <a:custGeom>
            <a:rect b="b" l="l" r="r" t="t"/>
            <a:pathLst>
              <a:path extrusionOk="0" h="635000" w="476250">
                <a:moveTo>
                  <a:pt x="0" y="79375"/>
                </a:moveTo>
                <a:cubicBezTo>
                  <a:pt x="0" y="35595"/>
                  <a:pt x="35595" y="0"/>
                  <a:pt x="79375" y="0"/>
                </a:cubicBezTo>
                <a:lnTo>
                  <a:pt x="264790" y="0"/>
                </a:lnTo>
                <a:cubicBezTo>
                  <a:pt x="285874" y="0"/>
                  <a:pt x="306090" y="8310"/>
                  <a:pt x="320973" y="23192"/>
                </a:cubicBezTo>
                <a:lnTo>
                  <a:pt x="453058" y="155401"/>
                </a:lnTo>
                <a:cubicBezTo>
                  <a:pt x="467940" y="170284"/>
                  <a:pt x="476250" y="190500"/>
                  <a:pt x="476250" y="211584"/>
                </a:cubicBezTo>
                <a:lnTo>
                  <a:pt x="476250" y="555625"/>
                </a:lnTo>
                <a:cubicBezTo>
                  <a:pt x="476250" y="599405"/>
                  <a:pt x="440655" y="635000"/>
                  <a:pt x="396875" y="635000"/>
                </a:cubicBezTo>
                <a:lnTo>
                  <a:pt x="79375" y="635000"/>
                </a:lnTo>
                <a:cubicBezTo>
                  <a:pt x="35595" y="635000"/>
                  <a:pt x="0" y="599405"/>
                  <a:pt x="0" y="555625"/>
                </a:cubicBezTo>
                <a:lnTo>
                  <a:pt x="0" y="79375"/>
                </a:lnTo>
                <a:close/>
                <a:moveTo>
                  <a:pt x="257969" y="72554"/>
                </a:moveTo>
                <a:lnTo>
                  <a:pt x="257969" y="188516"/>
                </a:lnTo>
                <a:cubicBezTo>
                  <a:pt x="257969" y="205011"/>
                  <a:pt x="271239" y="218281"/>
                  <a:pt x="287734" y="218281"/>
                </a:cubicBezTo>
                <a:lnTo>
                  <a:pt x="403696" y="218281"/>
                </a:lnTo>
                <a:lnTo>
                  <a:pt x="257969" y="72554"/>
                </a:lnTo>
                <a:close/>
                <a:moveTo>
                  <a:pt x="198438" y="347266"/>
                </a:moveTo>
                <a:lnTo>
                  <a:pt x="198438" y="396875"/>
                </a:lnTo>
                <a:lnTo>
                  <a:pt x="148828" y="396875"/>
                </a:lnTo>
                <a:cubicBezTo>
                  <a:pt x="137914" y="396875"/>
                  <a:pt x="128984" y="405805"/>
                  <a:pt x="128984" y="416719"/>
                </a:cubicBezTo>
                <a:lnTo>
                  <a:pt x="128984" y="456406"/>
                </a:lnTo>
                <a:cubicBezTo>
                  <a:pt x="128984" y="467320"/>
                  <a:pt x="137914" y="476250"/>
                  <a:pt x="148828" y="476250"/>
                </a:cubicBezTo>
                <a:lnTo>
                  <a:pt x="198438" y="476250"/>
                </a:lnTo>
                <a:lnTo>
                  <a:pt x="198438" y="525859"/>
                </a:lnTo>
                <a:cubicBezTo>
                  <a:pt x="198438" y="536773"/>
                  <a:pt x="207367" y="545703"/>
                  <a:pt x="218281" y="545703"/>
                </a:cubicBezTo>
                <a:lnTo>
                  <a:pt x="257969" y="545703"/>
                </a:lnTo>
                <a:cubicBezTo>
                  <a:pt x="268883" y="545703"/>
                  <a:pt x="277813" y="536773"/>
                  <a:pt x="277813" y="525859"/>
                </a:cubicBezTo>
                <a:lnTo>
                  <a:pt x="277813" y="476250"/>
                </a:lnTo>
                <a:lnTo>
                  <a:pt x="327422" y="476250"/>
                </a:lnTo>
                <a:cubicBezTo>
                  <a:pt x="338336" y="476250"/>
                  <a:pt x="347266" y="467320"/>
                  <a:pt x="347266" y="456406"/>
                </a:cubicBezTo>
                <a:lnTo>
                  <a:pt x="347266" y="416719"/>
                </a:lnTo>
                <a:cubicBezTo>
                  <a:pt x="347266" y="405805"/>
                  <a:pt x="338336" y="396875"/>
                  <a:pt x="327422" y="396875"/>
                </a:cubicBezTo>
                <a:lnTo>
                  <a:pt x="277813" y="396875"/>
                </a:lnTo>
                <a:lnTo>
                  <a:pt x="277813" y="347266"/>
                </a:lnTo>
                <a:cubicBezTo>
                  <a:pt x="277813" y="336352"/>
                  <a:pt x="268883" y="327422"/>
                  <a:pt x="257969" y="327422"/>
                </a:cubicBezTo>
                <a:lnTo>
                  <a:pt x="218281" y="327422"/>
                </a:lnTo>
                <a:cubicBezTo>
                  <a:pt x="207367" y="327422"/>
                  <a:pt x="198438" y="336352"/>
                  <a:pt x="198438" y="347266"/>
                </a:cubicBezTo>
                <a:close/>
              </a:path>
            </a:pathLst>
          </a:cu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8763000" y="3048000"/>
            <a:ext cx="635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Personalized to Risk &amp; Language</a:t>
            </a:r>
            <a:endParaRPr b="0" i="0" sz="1600" u="none" cap="none" strike="noStrike"/>
          </a:p>
        </p:txBody>
      </p:sp>
      <p:sp>
        <p:nvSpPr>
          <p:cNvPr id="205" name="Google Shape;205;p11"/>
          <p:cNvSpPr/>
          <p:nvPr/>
        </p:nvSpPr>
        <p:spPr>
          <a:xfrm>
            <a:off x="8763000" y="3746500"/>
            <a:ext cx="6350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Risk profile: cervical concern + Hindi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Select: Pap smear video + early detection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Gemini generates personalized intro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Assemble: intro + video + text summary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Output: video player + summary below</a:t>
            </a:r>
            <a:endParaRPr b="0" i="0" sz="1600" u="none" cap="none" strike="noStrike"/>
          </a:p>
        </p:txBody>
      </p:sp>
      <p:sp>
        <p:nvSpPr>
          <p:cNvPr id="206" name="Google Shape;206;p11"/>
          <p:cNvSpPr/>
          <p:nvPr/>
        </p:nvSpPr>
        <p:spPr>
          <a:xfrm>
            <a:off x="8763000" y="64770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Powered by </a:t>
            </a: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Gemini</a:t>
            </a:r>
            <a:r>
              <a:rPr b="0" i="0" lang="en-US" sz="14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script generation, translation, personalization</a:t>
            </a:r>
            <a:endParaRPr b="0" i="0" sz="1600" u="none" cap="none" strike="noStrike"/>
          </a:p>
        </p:txBody>
      </p:sp>
      <p:sp>
        <p:nvSpPr>
          <p:cNvPr id="207" name="Google Shape;207;p11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215" name="Google Shape;215;p12"/>
          <p:cNvSpPr/>
          <p:nvPr/>
        </p:nvSpPr>
        <p:spPr>
          <a:xfrm>
            <a:off x="762000" y="889000"/>
            <a:ext cx="1778000" cy="406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762000" y="8890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AGENT 4</a:t>
            </a:r>
            <a:endParaRPr b="0" i="0" sz="1600" u="none" cap="none" strike="noStrike"/>
          </a:p>
        </p:txBody>
      </p:sp>
      <p:sp>
        <p:nvSpPr>
          <p:cNvPr id="217" name="Google Shape;217;p12"/>
          <p:cNvSpPr/>
          <p:nvPr/>
        </p:nvSpPr>
        <p:spPr>
          <a:xfrm>
            <a:off x="2794000" y="863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Companion</a:t>
            </a:r>
            <a:endParaRPr b="0" i="0" sz="3000" u="none" cap="none" strike="noStrike"/>
          </a:p>
        </p:txBody>
      </p:sp>
      <p:sp>
        <p:nvSpPr>
          <p:cNvPr id="218" name="Google Shape;218;p12"/>
          <p:cNvSpPr/>
          <p:nvPr/>
        </p:nvSpPr>
        <p:spPr>
          <a:xfrm>
            <a:off x="762000" y="1498600"/>
            <a:ext cx="762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762000" y="1778000"/>
            <a:ext cx="711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b="1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persistent, warm presence</a:t>
            </a:r>
            <a:r>
              <a:rPr b="0" i="0" lang="en-US" sz="18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that follows up — so no one falls through the cracks after their first VERA interaction.</a:t>
            </a:r>
            <a:endParaRPr b="0" i="0" sz="1600" u="none" cap="none" strike="noStrike"/>
          </a:p>
        </p:txBody>
      </p:sp>
      <p:sp>
        <p:nvSpPr>
          <p:cNvPr id="220" name="Google Shape;220;p12"/>
          <p:cNvSpPr/>
          <p:nvPr/>
        </p:nvSpPr>
        <p:spPr>
          <a:xfrm>
            <a:off x="762000" y="27940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PERSISTENT MEMORY</a:t>
            </a:r>
            <a:endParaRPr b="0" i="0" sz="1600" u="none" cap="none" strike="noStrike"/>
          </a:p>
        </p:txBody>
      </p:sp>
      <p:sp>
        <p:nvSpPr>
          <p:cNvPr id="221" name="Google Shape;221;p12"/>
          <p:cNvSpPr/>
          <p:nvPr/>
        </p:nvSpPr>
        <p:spPr>
          <a:xfrm>
            <a:off x="762000" y="3238500"/>
            <a:ext cx="7112000" cy="133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1016000" y="3302000"/>
            <a:ext cx="6604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Session stored with </a:t>
            </a:r>
            <a:r>
              <a:rPr b="1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session_id</a:t>
            </a:r>
            <a:r>
              <a:rPr b="0" i="0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User returns → cookie loads profile → Gemini greets by name and recalls last interaction.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"Hi Priya, last time your risk was Moderate. How did the clinic visit go?"</a:t>
            </a:r>
            <a:endParaRPr b="0" i="0" sz="1600" u="none" cap="none" strike="noStrike"/>
          </a:p>
        </p:txBody>
      </p:sp>
      <p:sp>
        <p:nvSpPr>
          <p:cNvPr id="223" name="Google Shape;223;p12"/>
          <p:cNvSpPr/>
          <p:nvPr/>
        </p:nvSpPr>
        <p:spPr>
          <a:xfrm>
            <a:off x="762000" y="46990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WHAT COMPANION DOES</a:t>
            </a:r>
            <a:endParaRPr b="0" i="0" sz="1600" u="none" cap="none" strike="noStrike"/>
          </a:p>
        </p:txBody>
      </p:sp>
      <p:sp>
        <p:nvSpPr>
          <p:cNvPr id="224" name="Google Shape;224;p12"/>
          <p:cNvSpPr/>
          <p:nvPr/>
        </p:nvSpPr>
        <p:spPr>
          <a:xfrm>
            <a:off x="762000" y="5143500"/>
            <a:ext cx="3429000" cy="1016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974725" y="5334000"/>
            <a:ext cx="311150" cy="355600"/>
          </a:xfrm>
          <a:custGeom>
            <a:rect b="b" l="l" r="r" t="t"/>
            <a:pathLst>
              <a:path extrusionOk="0" h="355600" w="311150">
                <a:moveTo>
                  <a:pt x="88900" y="0"/>
                </a:moveTo>
                <a:cubicBezTo>
                  <a:pt x="101193" y="0"/>
                  <a:pt x="111125" y="9932"/>
                  <a:pt x="111125" y="22225"/>
                </a:cubicBezTo>
                <a:lnTo>
                  <a:pt x="111125" y="44450"/>
                </a:lnTo>
                <a:lnTo>
                  <a:pt x="200025" y="44450"/>
                </a:lnTo>
                <a:lnTo>
                  <a:pt x="200025" y="22225"/>
                </a:lnTo>
                <a:cubicBezTo>
                  <a:pt x="200025" y="9932"/>
                  <a:pt x="209957" y="0"/>
                  <a:pt x="222250" y="0"/>
                </a:cubicBezTo>
                <a:cubicBezTo>
                  <a:pt x="234543" y="0"/>
                  <a:pt x="244475" y="9932"/>
                  <a:pt x="244475" y="22225"/>
                </a:cubicBezTo>
                <a:lnTo>
                  <a:pt x="244475" y="44450"/>
                </a:lnTo>
                <a:lnTo>
                  <a:pt x="266700" y="44450"/>
                </a:lnTo>
                <a:cubicBezTo>
                  <a:pt x="291217" y="44450"/>
                  <a:pt x="311150" y="64383"/>
                  <a:pt x="311150" y="889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88900"/>
                </a:lnTo>
                <a:cubicBezTo>
                  <a:pt x="0" y="64383"/>
                  <a:pt x="19933" y="44450"/>
                  <a:pt x="44450" y="44450"/>
                </a:cubicBezTo>
                <a:lnTo>
                  <a:pt x="66675" y="44450"/>
                </a:lnTo>
                <a:lnTo>
                  <a:pt x="66675" y="22225"/>
                </a:lnTo>
                <a:cubicBezTo>
                  <a:pt x="66675" y="9932"/>
                  <a:pt x="76607" y="0"/>
                  <a:pt x="88900" y="0"/>
                </a:cubicBezTo>
                <a:close/>
                <a:moveTo>
                  <a:pt x="214193" y="158839"/>
                </a:moveTo>
                <a:cubicBezTo>
                  <a:pt x="219055" y="151061"/>
                  <a:pt x="216694" y="140781"/>
                  <a:pt x="208915" y="135850"/>
                </a:cubicBezTo>
                <a:cubicBezTo>
                  <a:pt x="201136" y="130919"/>
                  <a:pt x="190857" y="133350"/>
                  <a:pt x="185926" y="141129"/>
                </a:cubicBezTo>
                <a:lnTo>
                  <a:pt x="143282" y="209401"/>
                </a:lnTo>
                <a:lnTo>
                  <a:pt x="124529" y="184398"/>
                </a:lnTo>
                <a:cubicBezTo>
                  <a:pt x="118973" y="177036"/>
                  <a:pt x="108555" y="175508"/>
                  <a:pt x="101193" y="181064"/>
                </a:cubicBezTo>
                <a:cubicBezTo>
                  <a:pt x="93831" y="186621"/>
                  <a:pt x="92303" y="197039"/>
                  <a:pt x="97859" y="204401"/>
                </a:cubicBezTo>
                <a:lnTo>
                  <a:pt x="131197" y="248851"/>
                </a:lnTo>
                <a:cubicBezTo>
                  <a:pt x="134461" y="253226"/>
                  <a:pt x="139740" y="255726"/>
                  <a:pt x="145226" y="255518"/>
                </a:cubicBezTo>
                <a:cubicBezTo>
                  <a:pt x="150713" y="255310"/>
                  <a:pt x="155714" y="252393"/>
                  <a:pt x="158631" y="247670"/>
                </a:cubicBezTo>
                <a:lnTo>
                  <a:pt x="214193" y="158770"/>
                </a:lnTo>
                <a:close/>
              </a:path>
            </a:pathLst>
          </a:cu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1422400" y="5143500"/>
            <a:ext cx="26035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Follow-up Plan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Specific dates, actions, locations</a:t>
            </a:r>
            <a:endParaRPr b="0" i="0" sz="1600" u="none" cap="none" strike="noStrike"/>
          </a:p>
        </p:txBody>
      </p:sp>
      <p:sp>
        <p:nvSpPr>
          <p:cNvPr id="227" name="Google Shape;227;p12"/>
          <p:cNvSpPr/>
          <p:nvPr/>
        </p:nvSpPr>
        <p:spPr>
          <a:xfrm>
            <a:off x="4445000" y="5143500"/>
            <a:ext cx="3429000" cy="1016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4657725" y="5334000"/>
            <a:ext cx="311150" cy="355600"/>
          </a:xfrm>
          <a:custGeom>
            <a:rect b="b" l="l" r="r" t="t"/>
            <a:pathLst>
              <a:path extrusionOk="0" h="355600" w="311150">
                <a:moveTo>
                  <a:pt x="155575" y="0"/>
                </a:moveTo>
                <a:cubicBezTo>
                  <a:pt x="143282" y="0"/>
                  <a:pt x="133350" y="9932"/>
                  <a:pt x="133350" y="22225"/>
                </a:cubicBezTo>
                <a:lnTo>
                  <a:pt x="133350" y="24448"/>
                </a:lnTo>
                <a:cubicBezTo>
                  <a:pt x="82649" y="34727"/>
                  <a:pt x="44450" y="79593"/>
                  <a:pt x="44450" y="133350"/>
                </a:cubicBezTo>
                <a:lnTo>
                  <a:pt x="44450" y="148421"/>
                </a:lnTo>
                <a:cubicBezTo>
                  <a:pt x="44450" y="181828"/>
                  <a:pt x="33060" y="214263"/>
                  <a:pt x="12224" y="240377"/>
                </a:cubicBezTo>
                <a:lnTo>
                  <a:pt x="5417" y="248851"/>
                </a:lnTo>
                <a:cubicBezTo>
                  <a:pt x="1875" y="253226"/>
                  <a:pt x="0" y="258643"/>
                  <a:pt x="0" y="264269"/>
                </a:cubicBezTo>
                <a:cubicBezTo>
                  <a:pt x="0" y="277882"/>
                  <a:pt x="11043" y="288925"/>
                  <a:pt x="24656" y="288925"/>
                </a:cubicBezTo>
                <a:lnTo>
                  <a:pt x="286425" y="288925"/>
                </a:lnTo>
                <a:cubicBezTo>
                  <a:pt x="300038" y="288925"/>
                  <a:pt x="311081" y="277882"/>
                  <a:pt x="311081" y="264269"/>
                </a:cubicBezTo>
                <a:cubicBezTo>
                  <a:pt x="311081" y="258643"/>
                  <a:pt x="309205" y="253226"/>
                  <a:pt x="305663" y="248851"/>
                </a:cubicBezTo>
                <a:lnTo>
                  <a:pt x="298857" y="240377"/>
                </a:lnTo>
                <a:cubicBezTo>
                  <a:pt x="278090" y="214263"/>
                  <a:pt x="266700" y="181828"/>
                  <a:pt x="266700" y="148421"/>
                </a:cubicBezTo>
                <a:lnTo>
                  <a:pt x="266700" y="133350"/>
                </a:lnTo>
                <a:cubicBezTo>
                  <a:pt x="266700" y="79593"/>
                  <a:pt x="228501" y="34727"/>
                  <a:pt x="177800" y="24447"/>
                </a:cubicBezTo>
                <a:lnTo>
                  <a:pt x="177800" y="22225"/>
                </a:lnTo>
                <a:cubicBezTo>
                  <a:pt x="177800" y="9932"/>
                  <a:pt x="167868" y="0"/>
                  <a:pt x="155575" y="0"/>
                </a:cubicBezTo>
                <a:close/>
                <a:moveTo>
                  <a:pt x="112514" y="322263"/>
                </a:moveTo>
                <a:cubicBezTo>
                  <a:pt x="117445" y="341432"/>
                  <a:pt x="134878" y="355600"/>
                  <a:pt x="155575" y="355600"/>
                </a:cubicBezTo>
                <a:cubicBezTo>
                  <a:pt x="176272" y="355600"/>
                  <a:pt x="193705" y="341432"/>
                  <a:pt x="198636" y="322263"/>
                </a:cubicBezTo>
                <a:lnTo>
                  <a:pt x="112514" y="322263"/>
                </a:lnTo>
                <a:close/>
              </a:path>
            </a:pathLst>
          </a:cu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5105400" y="5143500"/>
            <a:ext cx="26035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Reminders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week, 1 month, 3 months, yearly</a:t>
            </a:r>
            <a:endParaRPr b="0" i="0" sz="1600" u="none" cap="none" strike="noStrike"/>
          </a:p>
        </p:txBody>
      </p:sp>
      <p:sp>
        <p:nvSpPr>
          <p:cNvPr id="230" name="Google Shape;230;p12"/>
          <p:cNvSpPr/>
          <p:nvPr/>
        </p:nvSpPr>
        <p:spPr>
          <a:xfrm>
            <a:off x="762000" y="6413500"/>
            <a:ext cx="3429000" cy="1016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952500" y="6604000"/>
            <a:ext cx="355600" cy="355600"/>
          </a:xfrm>
          <a:custGeom>
            <a:rect b="b" l="l" r="r" t="t"/>
            <a:pathLst>
              <a:path extrusionOk="0" h="355600" w="355600">
                <a:moveTo>
                  <a:pt x="0" y="244475"/>
                </a:moveTo>
                <a:lnTo>
                  <a:pt x="0" y="88900"/>
                </a:lnTo>
                <a:cubicBezTo>
                  <a:pt x="0" y="52090"/>
                  <a:pt x="29865" y="22225"/>
                  <a:pt x="66675" y="22225"/>
                </a:cubicBezTo>
                <a:lnTo>
                  <a:pt x="288925" y="22225"/>
                </a:lnTo>
                <a:cubicBezTo>
                  <a:pt x="325735" y="22225"/>
                  <a:pt x="355600" y="52090"/>
                  <a:pt x="355600" y="88900"/>
                </a:cubicBezTo>
                <a:lnTo>
                  <a:pt x="355600" y="244475"/>
                </a:lnTo>
                <a:cubicBezTo>
                  <a:pt x="355600" y="281285"/>
                  <a:pt x="325735" y="311150"/>
                  <a:pt x="288925" y="311150"/>
                </a:cubicBezTo>
                <a:lnTo>
                  <a:pt x="205581" y="311150"/>
                </a:lnTo>
                <a:cubicBezTo>
                  <a:pt x="201970" y="311150"/>
                  <a:pt x="198497" y="312331"/>
                  <a:pt x="195580" y="314484"/>
                </a:cubicBezTo>
                <a:lnTo>
                  <a:pt x="115570" y="374491"/>
                </a:lnTo>
                <a:cubicBezTo>
                  <a:pt x="112653" y="376644"/>
                  <a:pt x="109180" y="377825"/>
                  <a:pt x="105569" y="377825"/>
                </a:cubicBezTo>
                <a:cubicBezTo>
                  <a:pt x="96331" y="377825"/>
                  <a:pt x="88900" y="370394"/>
                  <a:pt x="88900" y="361156"/>
                </a:cubicBezTo>
                <a:lnTo>
                  <a:pt x="88900" y="311150"/>
                </a:lnTo>
                <a:lnTo>
                  <a:pt x="66675" y="311150"/>
                </a:lnTo>
                <a:cubicBezTo>
                  <a:pt x="29865" y="311150"/>
                  <a:pt x="0" y="281285"/>
                  <a:pt x="0" y="244475"/>
                </a:cubicBezTo>
                <a:close/>
              </a:path>
            </a:pathLst>
          </a:cu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1422400" y="6413500"/>
            <a:ext cx="26035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Family Message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Warm, culturally appropriate draft</a:t>
            </a:r>
            <a:endParaRPr b="0" i="0" sz="1600" u="none" cap="none" strike="noStrike"/>
          </a:p>
        </p:txBody>
      </p:sp>
      <p:sp>
        <p:nvSpPr>
          <p:cNvPr id="233" name="Google Shape;233;p12"/>
          <p:cNvSpPr/>
          <p:nvPr/>
        </p:nvSpPr>
        <p:spPr>
          <a:xfrm>
            <a:off x="4445000" y="6413500"/>
            <a:ext cx="3429000" cy="1016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4613275" y="6604000"/>
            <a:ext cx="400050" cy="355600"/>
          </a:xfrm>
          <a:custGeom>
            <a:rect b="b" l="l" r="r" t="t"/>
            <a:pathLst>
              <a:path extrusionOk="0" h="355600" w="400050">
                <a:moveTo>
                  <a:pt x="111125" y="117584"/>
                </a:moveTo>
                <a:cubicBezTo>
                  <a:pt x="130780" y="109041"/>
                  <a:pt x="144463" y="89456"/>
                  <a:pt x="144463" y="66675"/>
                </a:cubicBezTo>
                <a:cubicBezTo>
                  <a:pt x="144463" y="35977"/>
                  <a:pt x="119598" y="11113"/>
                  <a:pt x="88900" y="11113"/>
                </a:cubicBezTo>
                <a:cubicBezTo>
                  <a:pt x="58202" y="11113"/>
                  <a:pt x="33337" y="35977"/>
                  <a:pt x="33337" y="66675"/>
                </a:cubicBezTo>
                <a:cubicBezTo>
                  <a:pt x="33337" y="89456"/>
                  <a:pt x="47020" y="109041"/>
                  <a:pt x="66675" y="117584"/>
                </a:cubicBezTo>
                <a:lnTo>
                  <a:pt x="66675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77800" y="200025"/>
                </a:lnTo>
                <a:lnTo>
                  <a:pt x="177800" y="238016"/>
                </a:lnTo>
                <a:cubicBezTo>
                  <a:pt x="158145" y="246559"/>
                  <a:pt x="144463" y="266144"/>
                  <a:pt x="144463" y="288925"/>
                </a:cubicBezTo>
                <a:cubicBezTo>
                  <a:pt x="144463" y="319623"/>
                  <a:pt x="169327" y="344488"/>
                  <a:pt x="200025" y="344488"/>
                </a:cubicBezTo>
                <a:cubicBezTo>
                  <a:pt x="230723" y="344488"/>
                  <a:pt x="255587" y="319623"/>
                  <a:pt x="255587" y="288925"/>
                </a:cubicBezTo>
                <a:cubicBezTo>
                  <a:pt x="255587" y="266144"/>
                  <a:pt x="241905" y="246559"/>
                  <a:pt x="222250" y="238016"/>
                </a:cubicBezTo>
                <a:lnTo>
                  <a:pt x="222250" y="200025"/>
                </a:lnTo>
                <a:lnTo>
                  <a:pt x="377825" y="200025"/>
                </a:lnTo>
                <a:cubicBezTo>
                  <a:pt x="390118" y="200025"/>
                  <a:pt x="400050" y="190093"/>
                  <a:pt x="400050" y="177800"/>
                </a:cubicBezTo>
                <a:cubicBezTo>
                  <a:pt x="400050" y="165507"/>
                  <a:pt x="390118" y="155575"/>
                  <a:pt x="377825" y="155575"/>
                </a:cubicBezTo>
                <a:lnTo>
                  <a:pt x="333375" y="155575"/>
                </a:lnTo>
                <a:lnTo>
                  <a:pt x="333375" y="117584"/>
                </a:lnTo>
                <a:cubicBezTo>
                  <a:pt x="353030" y="109041"/>
                  <a:pt x="366712" y="89456"/>
                  <a:pt x="366712" y="66675"/>
                </a:cubicBezTo>
                <a:cubicBezTo>
                  <a:pt x="366712" y="35977"/>
                  <a:pt x="341848" y="11113"/>
                  <a:pt x="311150" y="11113"/>
                </a:cubicBezTo>
                <a:cubicBezTo>
                  <a:pt x="280452" y="11113"/>
                  <a:pt x="255587" y="35977"/>
                  <a:pt x="255587" y="66675"/>
                </a:cubicBezTo>
                <a:cubicBezTo>
                  <a:pt x="255587" y="89456"/>
                  <a:pt x="269270" y="109041"/>
                  <a:pt x="288925" y="117584"/>
                </a:cubicBezTo>
                <a:lnTo>
                  <a:pt x="288925" y="155575"/>
                </a:lnTo>
                <a:lnTo>
                  <a:pt x="111125" y="155575"/>
                </a:lnTo>
                <a:lnTo>
                  <a:pt x="111125" y="117584"/>
                </a:lnTo>
                <a:close/>
              </a:path>
            </a:pathLst>
          </a:cu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5105400" y="6413500"/>
            <a:ext cx="26035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 Timeline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Persistent record across sessions</a:t>
            </a:r>
            <a:endParaRPr b="0" i="0" sz="1600" u="none" cap="none" strike="noStrike"/>
          </a:p>
        </p:txBody>
      </p:sp>
      <p:sp>
        <p:nvSpPr>
          <p:cNvPr id="236" name="Google Shape;236;p12"/>
          <p:cNvSpPr/>
          <p:nvPr/>
        </p:nvSpPr>
        <p:spPr>
          <a:xfrm>
            <a:off x="8382000" y="1778000"/>
            <a:ext cx="7112000" cy="54610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8763000" y="20955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SAMPLE FOLLOW-UP PLAN</a:t>
            </a:r>
            <a:endParaRPr b="0" i="0" sz="1600" u="none" cap="none" strike="noStrike"/>
          </a:p>
        </p:txBody>
      </p:sp>
      <p:sp>
        <p:nvSpPr>
          <p:cNvPr id="238" name="Google Shape;238;p12"/>
          <p:cNvSpPr/>
          <p:nvPr/>
        </p:nvSpPr>
        <p:spPr>
          <a:xfrm>
            <a:off x="8763000" y="2603500"/>
            <a:ext cx="6350000" cy="35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Your VERA Follow-Up Plan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</a:t>
            </a:r>
            <a:r>
              <a:rPr b="1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week: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Call AIIMS Delhi to confirm your free Pap smear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📞 +91-11-26588500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</a:t>
            </a:r>
            <a:r>
              <a:rPr b="1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18: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Your screening camp date at AIIMS Delhi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</a:t>
            </a:r>
            <a:r>
              <a:rPr b="1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 12: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VERA check-in — How did it go?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</a:t>
            </a:r>
            <a:r>
              <a:rPr b="1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Yearly: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Reminder each May for cervical screening</a:t>
            </a:r>
            <a:endParaRPr b="0" i="0" sz="1600" u="none" cap="none" strike="noStrike"/>
          </a:p>
        </p:txBody>
      </p:sp>
      <p:sp>
        <p:nvSpPr>
          <p:cNvPr id="239" name="Google Shape;239;p12"/>
          <p:cNvSpPr/>
          <p:nvPr/>
        </p:nvSpPr>
        <p:spPr>
          <a:xfrm>
            <a:off x="8763000" y="64770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Powered by </a:t>
            </a:r>
            <a:r>
              <a:rPr b="1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Gemini</a:t>
            </a:r>
            <a:r>
              <a:rPr b="0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multilingual generation + memory summarization</a:t>
            </a:r>
            <a:endParaRPr b="0" i="0" sz="1600" u="none" cap="none" strike="noStrike"/>
          </a:p>
        </p:txBody>
      </p:sp>
      <p:sp>
        <p:nvSpPr>
          <p:cNvPr id="240" name="Google Shape;240;p12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248" name="Google Shape;248;p13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The Agent Collaboration Architecture</a:t>
            </a:r>
            <a:endParaRPr b="0" i="0" sz="1600" u="none" cap="none" strike="noStrike"/>
          </a:p>
        </p:txBody>
      </p:sp>
      <p:sp>
        <p:nvSpPr>
          <p:cNvPr id="249" name="Google Shape;249;p13"/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762000" y="1778000"/>
            <a:ext cx="889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Sequential pipeline with persistent Companion Agent layer — built for Collaborative Agent Swarms</a:t>
            </a:r>
            <a:endParaRPr b="0" i="0" sz="1600" u="none" cap="none" strike="noStrike"/>
          </a:p>
        </p:txBody>
      </p:sp>
      <p:sp>
        <p:nvSpPr>
          <p:cNvPr id="251" name="Google Shape;251;p13"/>
          <p:cNvSpPr/>
          <p:nvPr/>
        </p:nvSpPr>
        <p:spPr>
          <a:xfrm>
            <a:off x="762000" y="2794000"/>
            <a:ext cx="3048000" cy="12700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990600" y="2984500"/>
            <a:ext cx="457200" cy="406400"/>
          </a:xfrm>
          <a:custGeom>
            <a:rect b="b" l="l" r="r" t="t"/>
            <a:pathLst>
              <a:path extrusionOk="0" h="406400" w="457200">
                <a:moveTo>
                  <a:pt x="25400" y="38100"/>
                </a:moveTo>
                <a:cubicBezTo>
                  <a:pt x="25400" y="17066"/>
                  <a:pt x="42466" y="0"/>
                  <a:pt x="63500" y="0"/>
                </a:cubicBezTo>
                <a:lnTo>
                  <a:pt x="101600" y="0"/>
                </a:lnTo>
                <a:cubicBezTo>
                  <a:pt x="115649" y="0"/>
                  <a:pt x="127000" y="11351"/>
                  <a:pt x="127000" y="25400"/>
                </a:cubicBezTo>
                <a:cubicBezTo>
                  <a:pt x="127000" y="39449"/>
                  <a:pt x="115649" y="50800"/>
                  <a:pt x="101600" y="50800"/>
                </a:cubicBezTo>
                <a:lnTo>
                  <a:pt x="76200" y="50800"/>
                </a:lnTo>
                <a:lnTo>
                  <a:pt x="76200" y="152400"/>
                </a:lnTo>
                <a:cubicBezTo>
                  <a:pt x="76200" y="194469"/>
                  <a:pt x="110331" y="228600"/>
                  <a:pt x="152400" y="228600"/>
                </a:cubicBezTo>
                <a:cubicBezTo>
                  <a:pt x="194469" y="228600"/>
                  <a:pt x="228600" y="194469"/>
                  <a:pt x="228600" y="152400"/>
                </a:cubicBezTo>
                <a:lnTo>
                  <a:pt x="228600" y="50800"/>
                </a:lnTo>
                <a:lnTo>
                  <a:pt x="203200" y="50800"/>
                </a:lnTo>
                <a:cubicBezTo>
                  <a:pt x="189151" y="50800"/>
                  <a:pt x="177800" y="39449"/>
                  <a:pt x="177800" y="25400"/>
                </a:cubicBezTo>
                <a:cubicBezTo>
                  <a:pt x="177800" y="11351"/>
                  <a:pt x="189151" y="0"/>
                  <a:pt x="203200" y="0"/>
                </a:cubicBezTo>
                <a:lnTo>
                  <a:pt x="241300" y="0"/>
                </a:lnTo>
                <a:cubicBezTo>
                  <a:pt x="262334" y="0"/>
                  <a:pt x="279400" y="17066"/>
                  <a:pt x="279400" y="38100"/>
                </a:cubicBezTo>
                <a:lnTo>
                  <a:pt x="279400" y="152400"/>
                </a:lnTo>
                <a:cubicBezTo>
                  <a:pt x="279400" y="213836"/>
                  <a:pt x="235744" y="265113"/>
                  <a:pt x="177800" y="276860"/>
                </a:cubicBezTo>
                <a:lnTo>
                  <a:pt x="177800" y="292100"/>
                </a:lnTo>
                <a:cubicBezTo>
                  <a:pt x="177800" y="341233"/>
                  <a:pt x="217567" y="381000"/>
                  <a:pt x="266700" y="381000"/>
                </a:cubicBezTo>
                <a:cubicBezTo>
                  <a:pt x="315833" y="381000"/>
                  <a:pt x="355600" y="341233"/>
                  <a:pt x="355600" y="292100"/>
                </a:cubicBezTo>
                <a:lnTo>
                  <a:pt x="355600" y="224234"/>
                </a:lnTo>
                <a:cubicBezTo>
                  <a:pt x="325993" y="213757"/>
                  <a:pt x="304800" y="185579"/>
                  <a:pt x="304800" y="152400"/>
                </a:cubicBezTo>
                <a:cubicBezTo>
                  <a:pt x="304800" y="110331"/>
                  <a:pt x="338931" y="76200"/>
                  <a:pt x="381000" y="76200"/>
                </a:cubicBezTo>
                <a:cubicBezTo>
                  <a:pt x="423069" y="76200"/>
                  <a:pt x="457200" y="110331"/>
                  <a:pt x="457200" y="152400"/>
                </a:cubicBezTo>
                <a:cubicBezTo>
                  <a:pt x="457200" y="185579"/>
                  <a:pt x="436007" y="213836"/>
                  <a:pt x="406400" y="224234"/>
                </a:cubicBezTo>
                <a:lnTo>
                  <a:pt x="406400" y="292100"/>
                </a:lnTo>
                <a:cubicBezTo>
                  <a:pt x="406400" y="369253"/>
                  <a:pt x="343853" y="431800"/>
                  <a:pt x="266700" y="431800"/>
                </a:cubicBezTo>
                <a:cubicBezTo>
                  <a:pt x="189548" y="431800"/>
                  <a:pt x="127000" y="369253"/>
                  <a:pt x="127000" y="292100"/>
                </a:cubicBezTo>
                <a:lnTo>
                  <a:pt x="127000" y="276860"/>
                </a:lnTo>
                <a:cubicBezTo>
                  <a:pt x="69056" y="265113"/>
                  <a:pt x="25400" y="213836"/>
                  <a:pt x="25400" y="152400"/>
                </a:cubicBezTo>
                <a:lnTo>
                  <a:pt x="25400" y="38100"/>
                </a:lnTo>
                <a:close/>
                <a:moveTo>
                  <a:pt x="381000" y="177800"/>
                </a:moveTo>
                <a:cubicBezTo>
                  <a:pt x="395019" y="177800"/>
                  <a:pt x="406400" y="166419"/>
                  <a:pt x="406400" y="152400"/>
                </a:cubicBezTo>
                <a:cubicBezTo>
                  <a:pt x="406400" y="138381"/>
                  <a:pt x="395019" y="127000"/>
                  <a:pt x="381000" y="127000"/>
                </a:cubicBezTo>
                <a:cubicBezTo>
                  <a:pt x="366981" y="127000"/>
                  <a:pt x="355600" y="138381"/>
                  <a:pt x="355600" y="152400"/>
                </a:cubicBezTo>
                <a:cubicBezTo>
                  <a:pt x="355600" y="166419"/>
                  <a:pt x="366981" y="177800"/>
                  <a:pt x="381000" y="177800"/>
                </a:cubicBezTo>
                <a:close/>
              </a:path>
            </a:pathLst>
          </a:custGeom>
          <a:solidFill>
            <a:srgbClr val="F5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1549400" y="2921000"/>
            <a:ext cx="203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Profiler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Scores cancer risk</a:t>
            </a:r>
            <a:endParaRPr b="0" i="0" sz="1600" u="none" cap="none" strike="noStrike"/>
          </a:p>
        </p:txBody>
      </p:sp>
      <p:cxnSp>
        <p:nvCxnSpPr>
          <p:cNvPr id="254" name="Google Shape;254;p13"/>
          <p:cNvCxnSpPr/>
          <p:nvPr/>
        </p:nvCxnSpPr>
        <p:spPr>
          <a:xfrm>
            <a:off x="3937000" y="3365500"/>
            <a:ext cx="762000" cy="0"/>
          </a:xfrm>
          <a:prstGeom prst="straightConnector1">
            <a:avLst/>
          </a:prstGeom>
          <a:noFill/>
          <a:ln cap="flat" cmpd="sng" w="25400">
            <a:solidFill>
              <a:srgbClr val="E8705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5" name="Google Shape;255;p13"/>
          <p:cNvSpPr/>
          <p:nvPr/>
        </p:nvSpPr>
        <p:spPr>
          <a:xfrm>
            <a:off x="4826000" y="2794000"/>
            <a:ext cx="3048000" cy="12700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5029200" y="2984500"/>
            <a:ext cx="508000" cy="406400"/>
          </a:xfrm>
          <a:custGeom>
            <a:rect b="b" l="l" r="r" t="t"/>
            <a:pathLst>
              <a:path extrusionOk="0" h="406400" w="508000">
                <a:moveTo>
                  <a:pt x="457200" y="38100"/>
                </a:moveTo>
                <a:cubicBezTo>
                  <a:pt x="457200" y="29289"/>
                  <a:pt x="452676" y="21114"/>
                  <a:pt x="445135" y="16510"/>
                </a:cubicBezTo>
                <a:cubicBezTo>
                  <a:pt x="437594" y="11906"/>
                  <a:pt x="428307" y="11430"/>
                  <a:pt x="420449" y="15399"/>
                </a:cubicBezTo>
                <a:lnTo>
                  <a:pt x="328216" y="61516"/>
                </a:lnTo>
                <a:lnTo>
                  <a:pt x="185817" y="13970"/>
                </a:lnTo>
                <a:cubicBezTo>
                  <a:pt x="179388" y="11827"/>
                  <a:pt x="172482" y="12303"/>
                  <a:pt x="166449" y="15319"/>
                </a:cubicBezTo>
                <a:lnTo>
                  <a:pt x="64849" y="66119"/>
                </a:lnTo>
                <a:cubicBezTo>
                  <a:pt x="56198" y="70485"/>
                  <a:pt x="50800" y="79296"/>
                  <a:pt x="50800" y="88900"/>
                </a:cubicBezTo>
                <a:lnTo>
                  <a:pt x="50800" y="368300"/>
                </a:lnTo>
                <a:cubicBezTo>
                  <a:pt x="50800" y="377111"/>
                  <a:pt x="55324" y="385286"/>
                  <a:pt x="62865" y="389890"/>
                </a:cubicBezTo>
                <a:cubicBezTo>
                  <a:pt x="70406" y="394494"/>
                  <a:pt x="79693" y="394970"/>
                  <a:pt x="87551" y="391001"/>
                </a:cubicBezTo>
                <a:lnTo>
                  <a:pt x="179705" y="344884"/>
                </a:lnTo>
                <a:lnTo>
                  <a:pt x="317262" y="390763"/>
                </a:lnTo>
                <a:cubicBezTo>
                  <a:pt x="313849" y="385683"/>
                  <a:pt x="310515" y="380365"/>
                  <a:pt x="307261" y="374968"/>
                </a:cubicBezTo>
                <a:cubicBezTo>
                  <a:pt x="298529" y="360442"/>
                  <a:pt x="289878" y="343773"/>
                  <a:pt x="283448" y="325914"/>
                </a:cubicBezTo>
                <a:lnTo>
                  <a:pt x="203121" y="299164"/>
                </a:lnTo>
                <a:lnTo>
                  <a:pt x="203121" y="73342"/>
                </a:lnTo>
                <a:lnTo>
                  <a:pt x="304721" y="107236"/>
                </a:lnTo>
                <a:lnTo>
                  <a:pt x="304721" y="186055"/>
                </a:lnTo>
                <a:cubicBezTo>
                  <a:pt x="329327" y="157639"/>
                  <a:pt x="365839" y="139700"/>
                  <a:pt x="406321" y="139700"/>
                </a:cubicBezTo>
                <a:cubicBezTo>
                  <a:pt x="424259" y="139700"/>
                  <a:pt x="441404" y="143192"/>
                  <a:pt x="457121" y="149622"/>
                </a:cubicBezTo>
                <a:lnTo>
                  <a:pt x="457200" y="38100"/>
                </a:lnTo>
                <a:close/>
                <a:moveTo>
                  <a:pt x="406400" y="177800"/>
                </a:moveTo>
                <a:cubicBezTo>
                  <a:pt x="353774" y="177800"/>
                  <a:pt x="311150" y="219710"/>
                  <a:pt x="311150" y="271383"/>
                </a:cubicBezTo>
                <a:cubicBezTo>
                  <a:pt x="311150" y="326072"/>
                  <a:pt x="362029" y="390763"/>
                  <a:pt x="389414" y="421640"/>
                </a:cubicBezTo>
                <a:cubicBezTo>
                  <a:pt x="398621" y="431959"/>
                  <a:pt x="414258" y="431959"/>
                  <a:pt x="423466" y="421640"/>
                </a:cubicBezTo>
                <a:cubicBezTo>
                  <a:pt x="450850" y="390763"/>
                  <a:pt x="501729" y="326073"/>
                  <a:pt x="501729" y="271383"/>
                </a:cubicBezTo>
                <a:cubicBezTo>
                  <a:pt x="501729" y="219710"/>
                  <a:pt x="459105" y="177800"/>
                  <a:pt x="406479" y="177800"/>
                </a:cubicBezTo>
                <a:close/>
                <a:moveTo>
                  <a:pt x="374650" y="273050"/>
                </a:moveTo>
                <a:cubicBezTo>
                  <a:pt x="374650" y="255527"/>
                  <a:pt x="388877" y="241300"/>
                  <a:pt x="406400" y="241300"/>
                </a:cubicBezTo>
                <a:cubicBezTo>
                  <a:pt x="423923" y="241300"/>
                  <a:pt x="438150" y="255527"/>
                  <a:pt x="438150" y="273050"/>
                </a:cubicBezTo>
                <a:cubicBezTo>
                  <a:pt x="438150" y="290573"/>
                  <a:pt x="423923" y="304800"/>
                  <a:pt x="406400" y="304800"/>
                </a:cubicBezTo>
                <a:cubicBezTo>
                  <a:pt x="388877" y="304800"/>
                  <a:pt x="374650" y="290573"/>
                  <a:pt x="374650" y="273050"/>
                </a:cubicBezTo>
                <a:close/>
              </a:path>
            </a:pathLst>
          </a:custGeom>
          <a:solidFill>
            <a:srgbClr val="F5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5613400" y="2921000"/>
            <a:ext cx="203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Care Navigator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Finds schemes + clinics</a:t>
            </a:r>
            <a:endParaRPr b="0" i="0" sz="1600" u="none" cap="none" strike="noStrike"/>
          </a:p>
        </p:txBody>
      </p:sp>
      <p:cxnSp>
        <p:nvCxnSpPr>
          <p:cNvPr id="258" name="Google Shape;258;p13"/>
          <p:cNvCxnSpPr/>
          <p:nvPr/>
        </p:nvCxnSpPr>
        <p:spPr>
          <a:xfrm>
            <a:off x="8001000" y="3365500"/>
            <a:ext cx="762000" cy="0"/>
          </a:xfrm>
          <a:prstGeom prst="straightConnector1">
            <a:avLst/>
          </a:prstGeom>
          <a:noFill/>
          <a:ln cap="flat" cmpd="sng" w="25400">
            <a:solidFill>
              <a:srgbClr val="6B8F7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9" name="Google Shape;259;p13"/>
          <p:cNvSpPr/>
          <p:nvPr/>
        </p:nvSpPr>
        <p:spPr>
          <a:xfrm>
            <a:off x="8890000" y="2794000"/>
            <a:ext cx="3048000" cy="1270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9194800" y="2984500"/>
            <a:ext cx="304800" cy="406400"/>
          </a:xfrm>
          <a:custGeom>
            <a:rect b="b" l="l" r="r" t="t"/>
            <a:pathLst>
              <a:path extrusionOk="0" h="406400" w="3048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127000" y="222250"/>
                </a:moveTo>
                <a:lnTo>
                  <a:pt x="127000" y="254000"/>
                </a:lnTo>
                <a:lnTo>
                  <a:pt x="95250" y="254000"/>
                </a:lnTo>
                <a:cubicBezTo>
                  <a:pt x="88265" y="254000"/>
                  <a:pt x="82550" y="259715"/>
                  <a:pt x="82550" y="266700"/>
                </a:cubicBezTo>
                <a:lnTo>
                  <a:pt x="82550" y="292100"/>
                </a:lnTo>
                <a:cubicBezTo>
                  <a:pt x="82550" y="299085"/>
                  <a:pt x="88265" y="304800"/>
                  <a:pt x="95250" y="304800"/>
                </a:cubicBezTo>
                <a:lnTo>
                  <a:pt x="127000" y="304800"/>
                </a:lnTo>
                <a:lnTo>
                  <a:pt x="127000" y="336550"/>
                </a:lnTo>
                <a:cubicBezTo>
                  <a:pt x="127000" y="343535"/>
                  <a:pt x="132715" y="349250"/>
                  <a:pt x="139700" y="349250"/>
                </a:cubicBezTo>
                <a:lnTo>
                  <a:pt x="165100" y="349250"/>
                </a:lnTo>
                <a:cubicBezTo>
                  <a:pt x="172085" y="349250"/>
                  <a:pt x="177800" y="343535"/>
                  <a:pt x="177800" y="336550"/>
                </a:cubicBezTo>
                <a:lnTo>
                  <a:pt x="177800" y="304800"/>
                </a:lnTo>
                <a:lnTo>
                  <a:pt x="209550" y="304800"/>
                </a:lnTo>
                <a:cubicBezTo>
                  <a:pt x="216535" y="304800"/>
                  <a:pt x="222250" y="299085"/>
                  <a:pt x="222250" y="292100"/>
                </a:cubicBezTo>
                <a:lnTo>
                  <a:pt x="222250" y="266700"/>
                </a:lnTo>
                <a:cubicBezTo>
                  <a:pt x="222250" y="259715"/>
                  <a:pt x="216535" y="254000"/>
                  <a:pt x="209550" y="254000"/>
                </a:cubicBezTo>
                <a:lnTo>
                  <a:pt x="177800" y="254000"/>
                </a:lnTo>
                <a:lnTo>
                  <a:pt x="177800" y="222250"/>
                </a:lnTo>
                <a:cubicBezTo>
                  <a:pt x="177800" y="215265"/>
                  <a:pt x="172085" y="209550"/>
                  <a:pt x="165100" y="209550"/>
                </a:cubicBezTo>
                <a:lnTo>
                  <a:pt x="139700" y="209550"/>
                </a:lnTo>
                <a:cubicBezTo>
                  <a:pt x="132715" y="209550"/>
                  <a:pt x="127000" y="215265"/>
                  <a:pt x="127000" y="222250"/>
                </a:cubicBezTo>
                <a:close/>
              </a:path>
            </a:pathLst>
          </a:custGeom>
          <a:solidFill>
            <a:srgbClr val="F5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9677400" y="2921000"/>
            <a:ext cx="203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Records Explainer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Reads lab reports</a:t>
            </a:r>
            <a:endParaRPr b="0" i="0" sz="1600" u="none" cap="none" strike="noStrike"/>
          </a:p>
        </p:txBody>
      </p:sp>
      <p:cxnSp>
        <p:nvCxnSpPr>
          <p:cNvPr id="262" name="Google Shape;262;p13"/>
          <p:cNvCxnSpPr/>
          <p:nvPr/>
        </p:nvCxnSpPr>
        <p:spPr>
          <a:xfrm>
            <a:off x="2286000" y="4191000"/>
            <a:ext cx="0" cy="635000"/>
          </a:xfrm>
          <a:prstGeom prst="straightConnector1">
            <a:avLst/>
          </a:prstGeom>
          <a:noFill/>
          <a:ln cap="flat" cmpd="sng" w="25400">
            <a:solidFill>
              <a:srgbClr val="E8705A"/>
            </a:solidFill>
            <a:prstDash val="dot"/>
            <a:round/>
            <a:headEnd len="med" w="med" type="stealth"/>
            <a:tailEnd len="sm" w="sm" type="none"/>
          </a:ln>
        </p:spPr>
      </p:cxnSp>
      <p:sp>
        <p:nvSpPr>
          <p:cNvPr id="263" name="Google Shape;263;p13"/>
          <p:cNvSpPr/>
          <p:nvPr/>
        </p:nvSpPr>
        <p:spPr>
          <a:xfrm>
            <a:off x="2413000" y="4318000"/>
            <a:ext cx="254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clinical signals</a:t>
            </a:r>
            <a:endParaRPr b="0" i="0" sz="1600" u="none" cap="none" strike="noStrike"/>
          </a:p>
        </p:txBody>
      </p:sp>
      <p:sp>
        <p:nvSpPr>
          <p:cNvPr id="264" name="Google Shape;264;p13"/>
          <p:cNvSpPr/>
          <p:nvPr/>
        </p:nvSpPr>
        <p:spPr>
          <a:xfrm>
            <a:off x="4318000" y="5080000"/>
            <a:ext cx="7620000" cy="1270000"/>
          </a:xfrm>
          <a:prstGeom prst="rect">
            <a:avLst/>
          </a:prstGeom>
          <a:solidFill>
            <a:srgbClr val="0D3B3B"/>
          </a:solidFill>
          <a:ln cap="flat" cmpd="sng" w="25400">
            <a:solidFill>
              <a:srgbClr val="E870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4699000" y="53975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96351"/>
                </a:moveTo>
                <a:lnTo>
                  <a:pt x="215205" y="77778"/>
                </a:lnTo>
                <a:cubicBezTo>
                  <a:pt x="192881" y="46881"/>
                  <a:pt x="157073" y="28575"/>
                  <a:pt x="118854" y="28575"/>
                </a:cubicBezTo>
                <a:cubicBezTo>
                  <a:pt x="53221" y="28575"/>
                  <a:pt x="0" y="81796"/>
                  <a:pt x="0" y="147429"/>
                </a:cubicBezTo>
                <a:lnTo>
                  <a:pt x="0" y="149751"/>
                </a:lnTo>
                <a:cubicBezTo>
                  <a:pt x="0" y="170825"/>
                  <a:pt x="5536" y="192613"/>
                  <a:pt x="14823" y="214313"/>
                </a:cubicBezTo>
                <a:lnTo>
                  <a:pt x="109478" y="214313"/>
                </a:lnTo>
                <a:cubicBezTo>
                  <a:pt x="112335" y="214313"/>
                  <a:pt x="114925" y="212616"/>
                  <a:pt x="116086" y="209937"/>
                </a:cubicBezTo>
                <a:lnTo>
                  <a:pt x="144482" y="141803"/>
                </a:lnTo>
                <a:cubicBezTo>
                  <a:pt x="147786" y="133945"/>
                  <a:pt x="155466" y="128766"/>
                  <a:pt x="163949" y="128588"/>
                </a:cubicBezTo>
                <a:cubicBezTo>
                  <a:pt x="172432" y="128409"/>
                  <a:pt x="180290" y="133410"/>
                  <a:pt x="183773" y="141178"/>
                </a:cubicBezTo>
                <a:lnTo>
                  <a:pt x="229582" y="242888"/>
                </a:lnTo>
                <a:lnTo>
                  <a:pt x="266551" y="168950"/>
                </a:lnTo>
                <a:cubicBezTo>
                  <a:pt x="270212" y="161717"/>
                  <a:pt x="277624" y="157073"/>
                  <a:pt x="285750" y="157073"/>
                </a:cubicBezTo>
                <a:cubicBezTo>
                  <a:pt x="293876" y="157073"/>
                  <a:pt x="301288" y="161627"/>
                  <a:pt x="304949" y="168950"/>
                </a:cubicBezTo>
                <a:lnTo>
                  <a:pt x="325666" y="210294"/>
                </a:lnTo>
                <a:cubicBezTo>
                  <a:pt x="326916" y="212705"/>
                  <a:pt x="329327" y="214223"/>
                  <a:pt x="332095" y="214223"/>
                </a:cubicBezTo>
                <a:lnTo>
                  <a:pt x="442466" y="214223"/>
                </a:lnTo>
                <a:cubicBezTo>
                  <a:pt x="451842" y="192524"/>
                  <a:pt x="457289" y="170736"/>
                  <a:pt x="457289" y="149662"/>
                </a:cubicBezTo>
                <a:lnTo>
                  <a:pt x="457289" y="147340"/>
                </a:lnTo>
                <a:cubicBezTo>
                  <a:pt x="457200" y="81796"/>
                  <a:pt x="403979" y="28575"/>
                  <a:pt x="338346" y="28575"/>
                </a:cubicBezTo>
                <a:cubicBezTo>
                  <a:pt x="300216" y="28575"/>
                  <a:pt x="264319" y="46881"/>
                  <a:pt x="241995" y="77778"/>
                </a:cubicBezTo>
                <a:lnTo>
                  <a:pt x="228600" y="96262"/>
                </a:lnTo>
                <a:close/>
                <a:moveTo>
                  <a:pt x="419338" y="257175"/>
                </a:moveTo>
                <a:lnTo>
                  <a:pt x="332006" y="257175"/>
                </a:lnTo>
                <a:cubicBezTo>
                  <a:pt x="313075" y="257175"/>
                  <a:pt x="295751" y="246459"/>
                  <a:pt x="287268" y="229493"/>
                </a:cubicBezTo>
                <a:lnTo>
                  <a:pt x="285750" y="226457"/>
                </a:lnTo>
                <a:lnTo>
                  <a:pt x="247799" y="302449"/>
                </a:lnTo>
                <a:cubicBezTo>
                  <a:pt x="244138" y="309860"/>
                  <a:pt x="236458" y="314504"/>
                  <a:pt x="228154" y="314325"/>
                </a:cubicBezTo>
                <a:cubicBezTo>
                  <a:pt x="219849" y="314146"/>
                  <a:pt x="212437" y="309235"/>
                  <a:pt x="209044" y="301734"/>
                </a:cubicBezTo>
                <a:lnTo>
                  <a:pt x="165021" y="203954"/>
                </a:lnTo>
                <a:lnTo>
                  <a:pt x="155644" y="226457"/>
                </a:lnTo>
                <a:cubicBezTo>
                  <a:pt x="147876" y="245120"/>
                  <a:pt x="129659" y="257264"/>
                  <a:pt x="109478" y="257264"/>
                </a:cubicBezTo>
                <a:lnTo>
                  <a:pt x="37862" y="257264"/>
                </a:lnTo>
                <a:cubicBezTo>
                  <a:pt x="80010" y="323165"/>
                  <a:pt x="147697" y="383798"/>
                  <a:pt x="190024" y="416123"/>
                </a:cubicBezTo>
                <a:cubicBezTo>
                  <a:pt x="201097" y="424517"/>
                  <a:pt x="214670" y="428714"/>
                  <a:pt x="228511" y="428714"/>
                </a:cubicBezTo>
                <a:cubicBezTo>
                  <a:pt x="242352" y="428714"/>
                  <a:pt x="256014" y="424607"/>
                  <a:pt x="266998" y="416123"/>
                </a:cubicBezTo>
                <a:cubicBezTo>
                  <a:pt x="309503" y="383709"/>
                  <a:pt x="377190" y="323076"/>
                  <a:pt x="419338" y="257175"/>
                </a:cubicBezTo>
                <a:close/>
              </a:path>
            </a:pathLst>
          </a:cu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5334000" y="5270500"/>
            <a:ext cx="6350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Companion Agent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</a:t>
            </a: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ALWAYS ACTIVE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Holds session state, consulted at every phase, persistent memory across sessions</a:t>
            </a:r>
            <a:endParaRPr b="0" i="0" sz="1600" u="none" cap="none" strike="noStrike"/>
          </a:p>
        </p:txBody>
      </p:sp>
      <p:cxnSp>
        <p:nvCxnSpPr>
          <p:cNvPr id="267" name="Google Shape;267;p13"/>
          <p:cNvCxnSpPr/>
          <p:nvPr/>
        </p:nvCxnSpPr>
        <p:spPr>
          <a:xfrm>
            <a:off x="2286000" y="4064000"/>
            <a:ext cx="0" cy="1016000"/>
          </a:xfrm>
          <a:prstGeom prst="straightConnector1">
            <a:avLst/>
          </a:prstGeom>
          <a:noFill/>
          <a:ln cap="flat" cmpd="sng" w="12700">
            <a:solidFill>
              <a:srgbClr val="8A85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8" name="Google Shape;268;p13"/>
          <p:cNvCxnSpPr/>
          <p:nvPr/>
        </p:nvCxnSpPr>
        <p:spPr>
          <a:xfrm>
            <a:off x="6350000" y="4064000"/>
            <a:ext cx="0" cy="1016000"/>
          </a:xfrm>
          <a:prstGeom prst="straightConnector1">
            <a:avLst/>
          </a:prstGeom>
          <a:noFill/>
          <a:ln cap="flat" cmpd="sng" w="12700">
            <a:solidFill>
              <a:srgbClr val="8A85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9" name="Google Shape;269;p13"/>
          <p:cNvCxnSpPr/>
          <p:nvPr/>
        </p:nvCxnSpPr>
        <p:spPr>
          <a:xfrm>
            <a:off x="10414000" y="4064000"/>
            <a:ext cx="0" cy="1016000"/>
          </a:xfrm>
          <a:prstGeom prst="straightConnector1">
            <a:avLst/>
          </a:prstGeom>
          <a:noFill/>
          <a:ln cap="flat" cmpd="sng" w="12700">
            <a:solidFill>
              <a:srgbClr val="8A85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0" name="Google Shape;270;p13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solidFill>
            <a:srgbClr val="E8705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1016000" y="6858000"/>
            <a:ext cx="14224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Emergent Capability:</a:t>
            </a: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When Records Explainer finds new clinical signals → feeds back to Risk Profiler → re-scores risk.</a:t>
            </a:r>
            <a:endParaRPr b="0" i="0" sz="1600" u="none" cap="none" strike="noStrike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whole is greater than the sum of parts. No single agent can achieve VERA's mission alone.</a:t>
            </a:r>
            <a:endParaRPr b="0" i="0" sz="1600" u="none" cap="none" strike="noStrike"/>
          </a:p>
        </p:txBody>
      </p:sp>
      <p:sp>
        <p:nvSpPr>
          <p:cNvPr id="272" name="Google Shape;272;p13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280" name="Google Shape;280;p14"/>
          <p:cNvSpPr/>
          <p:nvPr/>
        </p:nvSpPr>
        <p:spPr>
          <a:xfrm>
            <a:off x="762000" y="889000"/>
            <a:ext cx="635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The Technology Stack</a:t>
            </a:r>
            <a:endParaRPr b="0" i="0" sz="3000" u="none" cap="none" strike="noStrike"/>
          </a:p>
        </p:txBody>
      </p:sp>
      <p:sp>
        <p:nvSpPr>
          <p:cNvPr id="281" name="Google Shape;281;p14"/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2" name="Google Shape;282;p14"/>
          <p:cNvGraphicFramePr/>
          <p:nvPr/>
        </p:nvGraphicFramePr>
        <p:xfrm>
          <a:off x="7620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{C34E8D15-272D-48B7-8755-107E12BFE031}</a:tableStyleId>
              </a:tblPr>
              <a:tblGrid>
                <a:gridCol w="2286000"/>
                <a:gridCol w="3429000"/>
                <a:gridCol w="1905000"/>
              </a:tblGrid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5F0E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Layer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B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5F0E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Technology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B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5F0E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Matters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3B3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Frontend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Next.js 16 + Tailwind CSS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Mobile-first, responsive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Backend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FastAPI (Python, async)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High-performance API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Database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PostgreSQL 16 + pgvector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Structured + vector search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AI Models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Gemini 2.0 Flash + MedGemma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Speed + medical accuracy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Infrastructure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Docker + Vultr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D2D3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One-command deploy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DC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3" name="Google Shape;283;p14"/>
          <p:cNvSpPr/>
          <p:nvPr/>
        </p:nvSpPr>
        <p:spPr>
          <a:xfrm>
            <a:off x="762000" y="60960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KEY PERFORMANCE TARGETS</a:t>
            </a:r>
            <a:endParaRPr b="0" i="0" sz="1600" u="none" cap="none" strike="noStrike"/>
          </a:p>
        </p:txBody>
      </p:sp>
      <p:sp>
        <p:nvSpPr>
          <p:cNvPr id="284" name="Google Shape;284;p14"/>
          <p:cNvSpPr/>
          <p:nvPr/>
        </p:nvSpPr>
        <p:spPr>
          <a:xfrm>
            <a:off x="762000" y="6604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&lt;3s</a:t>
            </a:r>
            <a:endParaRPr b="0" i="0" sz="1600" u="none" cap="none" strike="noStrike"/>
          </a:p>
        </p:txBody>
      </p:sp>
      <p:sp>
        <p:nvSpPr>
          <p:cNvPr id="285" name="Google Shape;285;p14"/>
          <p:cNvSpPr/>
          <p:nvPr/>
        </p:nvSpPr>
        <p:spPr>
          <a:xfrm>
            <a:off x="762000" y="7366000"/>
            <a:ext cx="22860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 latency per agent step</a:t>
            </a:r>
            <a:endParaRPr b="0" i="0" sz="1600" u="none" cap="none" strike="noStrike"/>
          </a:p>
        </p:txBody>
      </p:sp>
      <p:sp>
        <p:nvSpPr>
          <p:cNvPr id="286" name="Google Shape;286;p14"/>
          <p:cNvSpPr/>
          <p:nvPr/>
        </p:nvSpPr>
        <p:spPr>
          <a:xfrm>
            <a:off x="3429000" y="6604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100%</a:t>
            </a:r>
            <a:endParaRPr b="0" i="0" sz="1600" u="none" cap="none" strike="noStrike"/>
          </a:p>
        </p:txBody>
      </p:sp>
      <p:sp>
        <p:nvSpPr>
          <p:cNvPr id="287" name="Google Shape;287;p14"/>
          <p:cNvSpPr/>
          <p:nvPr/>
        </p:nvSpPr>
        <p:spPr>
          <a:xfrm>
            <a:off x="3429000" y="7366000"/>
            <a:ext cx="22860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 reliability target — zero crashes</a:t>
            </a:r>
            <a:endParaRPr b="0" i="0" sz="1600" u="none" cap="none" strike="noStrike"/>
          </a:p>
        </p:txBody>
      </p:sp>
      <p:sp>
        <p:nvSpPr>
          <p:cNvPr id="288" name="Google Shape;288;p14"/>
          <p:cNvSpPr/>
          <p:nvPr/>
        </p:nvSpPr>
        <p:spPr>
          <a:xfrm>
            <a:off x="6096000" y="6604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600" u="none" cap="none" strike="noStrike"/>
          </a:p>
        </p:txBody>
      </p:sp>
      <p:sp>
        <p:nvSpPr>
          <p:cNvPr id="289" name="Google Shape;289;p14"/>
          <p:cNvSpPr/>
          <p:nvPr/>
        </p:nvSpPr>
        <p:spPr>
          <a:xfrm>
            <a:off x="6096000" y="7366000"/>
            <a:ext cx="22860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Languages at launch: EN, HI, TA</a:t>
            </a:r>
            <a:endParaRPr b="0" i="0" sz="1600" u="none" cap="none" strike="noStrike"/>
          </a:p>
        </p:txBody>
      </p:sp>
      <p:sp>
        <p:nvSpPr>
          <p:cNvPr id="290" name="Google Shape;290;p14"/>
          <p:cNvSpPr/>
          <p:nvPr/>
        </p:nvSpPr>
        <p:spPr>
          <a:xfrm>
            <a:off x="8890000" y="1905000"/>
            <a:ext cx="6604000" cy="5461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9271000" y="22225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ARCHITECTURE HIGHLIGHTS</a:t>
            </a:r>
            <a:endParaRPr b="0" i="0" sz="1600" u="none" cap="none" strike="noStrike"/>
          </a:p>
        </p:txBody>
      </p:sp>
      <p:sp>
        <p:nvSpPr>
          <p:cNvPr id="292" name="Google Shape;292;p14"/>
          <p:cNvSpPr/>
          <p:nvPr/>
        </p:nvSpPr>
        <p:spPr>
          <a:xfrm>
            <a:off x="9271000" y="2794000"/>
            <a:ext cx="58420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Async FastAPI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non-blocking agent orchestration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pgvector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semantic search for scheme matching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Shared state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PostgreSQL session store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MedGemma 27B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Google's medical AI, not generic LLM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Gemini Flash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&lt;3s multilingual responses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Compose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one command, entire stack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Mobile responsive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primary access is mobile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contrast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accessibility built-in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Hardcoded fallbacks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demo never crashes</a:t>
            </a:r>
            <a:endParaRPr b="0" i="0" sz="1600" u="none" cap="none" strike="noStrike"/>
          </a:p>
        </p:txBody>
      </p:sp>
      <p:sp>
        <p:nvSpPr>
          <p:cNvPr id="293" name="Google Shape;293;p14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301" name="Google Shape;301;p15"/>
          <p:cNvSpPr/>
          <p:nvPr/>
        </p:nvSpPr>
        <p:spPr>
          <a:xfrm>
            <a:off x="762000" y="889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The VERA User Experience</a:t>
            </a:r>
            <a:endParaRPr b="0" i="0" sz="1600" u="none" cap="none" strike="noStrike"/>
          </a:p>
        </p:txBody>
      </p:sp>
      <p:sp>
        <p:nvSpPr>
          <p:cNvPr id="302" name="Google Shape;302;p15"/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762000" y="1714500"/>
            <a:ext cx="889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screen designed for warmth, clarity, and action — multilingual by design.</a:t>
            </a:r>
            <a:endParaRPr b="0" i="0" sz="1600" u="none" cap="none" strike="noStrike"/>
          </a:p>
        </p:txBody>
      </p:sp>
      <p:sp>
        <p:nvSpPr>
          <p:cNvPr id="304" name="Google Shape;304;p15"/>
          <p:cNvSpPr/>
          <p:nvPr/>
        </p:nvSpPr>
        <p:spPr>
          <a:xfrm>
            <a:off x="762000" y="2413000"/>
            <a:ext cx="2794000" cy="3937000"/>
          </a:xfrm>
          <a:prstGeom prst="rect">
            <a:avLst/>
          </a:prstGeom>
          <a:solidFill>
            <a:srgbClr val="0D3B3B"/>
          </a:solidFill>
          <a:ln cap="flat" cmpd="sng" w="12700">
            <a:solidFill>
              <a:srgbClr val="2D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762000" y="2413000"/>
            <a:ext cx="2794000" cy="5080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762000" y="2413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LANDING</a:t>
            </a:r>
            <a:endParaRPr b="0" i="0" sz="1600" u="none" cap="none" strike="noStrike"/>
          </a:p>
        </p:txBody>
      </p:sp>
      <p:sp>
        <p:nvSpPr>
          <p:cNvPr id="307" name="Google Shape;307;p15"/>
          <p:cNvSpPr/>
          <p:nvPr/>
        </p:nvSpPr>
        <p:spPr>
          <a:xfrm>
            <a:off x="952500" y="3175000"/>
            <a:ext cx="2413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VERA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Your cancer risk companion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💬 Conversational risk assessment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🌐 Multilingual support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📌 Free scheme matching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Talk to VERA ]</a:t>
            </a:r>
            <a:endParaRPr b="0" i="0" sz="1600" u="none" cap="none" strike="noStrike"/>
          </a:p>
        </p:txBody>
      </p:sp>
      <p:sp>
        <p:nvSpPr>
          <p:cNvPr id="308" name="Google Shape;308;p15"/>
          <p:cNvSpPr/>
          <p:nvPr/>
        </p:nvSpPr>
        <p:spPr>
          <a:xfrm>
            <a:off x="3810000" y="2413000"/>
            <a:ext cx="2794000" cy="3937000"/>
          </a:xfrm>
          <a:prstGeom prst="rect">
            <a:avLst/>
          </a:prstGeom>
          <a:solidFill>
            <a:srgbClr val="0D3B3B"/>
          </a:solidFill>
          <a:ln cap="flat" cmpd="sng" w="12700">
            <a:solidFill>
              <a:srgbClr val="2D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3810000" y="2413000"/>
            <a:ext cx="2794000" cy="5080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3810000" y="2413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CHAT</a:t>
            </a:r>
            <a:endParaRPr b="0" i="0" sz="1600" u="none" cap="none" strike="noStrike"/>
          </a:p>
        </p:txBody>
      </p:sp>
      <p:sp>
        <p:nvSpPr>
          <p:cNvPr id="311" name="Google Shape;311;p15"/>
          <p:cNvSpPr/>
          <p:nvPr/>
        </p:nvSpPr>
        <p:spPr>
          <a:xfrm>
            <a:off x="4000500" y="3175000"/>
            <a:ext cx="2413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VERA:</a:t>
            </a:r>
            <a:r>
              <a:rPr b="0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Hi, I'm VERA. What's your name?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You:</a:t>
            </a:r>
            <a:r>
              <a:rPr b="0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Priya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VERA:</a:t>
            </a:r>
            <a:r>
              <a:rPr b="0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How old are you, Priya?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You:</a:t>
            </a:r>
            <a:r>
              <a:rPr b="0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38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VERA:</a:t>
            </a:r>
            <a:r>
              <a:rPr b="0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When was your last screening?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_____________ ] [Send]</a:t>
            </a:r>
            <a:endParaRPr b="0" i="0" sz="1600" u="none" cap="none" strike="noStrike"/>
          </a:p>
        </p:txBody>
      </p:sp>
      <p:sp>
        <p:nvSpPr>
          <p:cNvPr id="312" name="Google Shape;312;p15"/>
          <p:cNvSpPr/>
          <p:nvPr/>
        </p:nvSpPr>
        <p:spPr>
          <a:xfrm>
            <a:off x="6858000" y="2413000"/>
            <a:ext cx="2794000" cy="3937000"/>
          </a:xfrm>
          <a:prstGeom prst="rect">
            <a:avLst/>
          </a:prstGeom>
          <a:solidFill>
            <a:srgbClr val="0D3B3B"/>
          </a:solidFill>
          <a:ln cap="flat" cmpd="sng" w="12700">
            <a:solidFill>
              <a:srgbClr val="2D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6858000" y="2413000"/>
            <a:ext cx="2794000" cy="5080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6858000" y="2413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RISK DASHBOARD</a:t>
            </a:r>
            <a:endParaRPr b="0" i="0" sz="1600" u="none" cap="none" strike="noStrike"/>
          </a:p>
        </p:txBody>
      </p:sp>
      <p:sp>
        <p:nvSpPr>
          <p:cNvPr id="315" name="Google Shape;315;p15"/>
          <p:cNvSpPr/>
          <p:nvPr/>
        </p:nvSpPr>
        <p:spPr>
          <a:xfrm>
            <a:off x="7048500" y="3175000"/>
            <a:ext cx="2413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Your Risk Profile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MODERATE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Cervical risk flagged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Breast risk flagged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Screening overdue: 5 years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Family history: Mother</a:t>
            </a:r>
            <a:endParaRPr b="0" i="0" sz="1600" u="none" cap="none" strike="noStrike"/>
          </a:p>
        </p:txBody>
      </p:sp>
      <p:sp>
        <p:nvSpPr>
          <p:cNvPr id="316" name="Google Shape;316;p15"/>
          <p:cNvSpPr/>
          <p:nvPr/>
        </p:nvSpPr>
        <p:spPr>
          <a:xfrm>
            <a:off x="9906000" y="2413000"/>
            <a:ext cx="2794000" cy="3937000"/>
          </a:xfrm>
          <a:prstGeom prst="rect">
            <a:avLst/>
          </a:prstGeom>
          <a:solidFill>
            <a:srgbClr val="0D3B3B"/>
          </a:solidFill>
          <a:ln cap="flat" cmpd="sng" w="12700">
            <a:solidFill>
              <a:srgbClr val="2D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9906000" y="2413000"/>
            <a:ext cx="2794000" cy="5080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9906000" y="2413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SCHEMES</a:t>
            </a:r>
            <a:endParaRPr b="0" i="0" sz="1600" u="none" cap="none" strike="noStrike"/>
          </a:p>
        </p:txBody>
      </p:sp>
      <p:sp>
        <p:nvSpPr>
          <p:cNvPr id="319" name="Google Shape;319;p15"/>
          <p:cNvSpPr/>
          <p:nvPr/>
        </p:nvSpPr>
        <p:spPr>
          <a:xfrm>
            <a:off x="10096500" y="3175000"/>
            <a:ext cx="2413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Matched for You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🏆</a:t>
            </a:r>
            <a:r>
              <a:rPr b="0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Ayushman Bharat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Free cervical screening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Eligibility: ✓ Matched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🏥</a:t>
            </a:r>
            <a:r>
              <a:rPr b="0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AIIMS Delhi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2.3 km away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Call to Schedule ]</a:t>
            </a:r>
            <a:endParaRPr b="0" i="0" sz="1600" u="none" cap="none" strike="noStrike"/>
          </a:p>
        </p:txBody>
      </p:sp>
      <p:sp>
        <p:nvSpPr>
          <p:cNvPr id="320" name="Google Shape;320;p15"/>
          <p:cNvSpPr/>
          <p:nvPr/>
        </p:nvSpPr>
        <p:spPr>
          <a:xfrm>
            <a:off x="12954000" y="2413000"/>
            <a:ext cx="2540000" cy="3937000"/>
          </a:xfrm>
          <a:prstGeom prst="rect">
            <a:avLst/>
          </a:prstGeom>
          <a:solidFill>
            <a:srgbClr val="0D3B3B"/>
          </a:solidFill>
          <a:ln cap="flat" cmpd="sng" w="12700">
            <a:solidFill>
              <a:srgbClr val="2D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12954000" y="2413000"/>
            <a:ext cx="2540000" cy="508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12954000" y="24130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COMPANION</a:t>
            </a:r>
            <a:endParaRPr b="0" i="0" sz="1600" u="none" cap="none" strike="noStrike"/>
          </a:p>
        </p:txBody>
      </p:sp>
      <p:sp>
        <p:nvSpPr>
          <p:cNvPr id="323" name="Google Shape;323;p15"/>
          <p:cNvSpPr/>
          <p:nvPr/>
        </p:nvSpPr>
        <p:spPr>
          <a:xfrm>
            <a:off x="13144500" y="3175000"/>
            <a:ext cx="2159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Your Plan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This week: Call clinic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May 18: Screening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June 12: Check-in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💬 Draft message to family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📅 Health Timeline</a:t>
            </a:r>
            <a:endParaRPr b="0" i="0" sz="1600" u="none" cap="none" strike="noStrike"/>
          </a:p>
        </p:txBody>
      </p:sp>
      <p:sp>
        <p:nvSpPr>
          <p:cNvPr id="324" name="Google Shape;324;p15"/>
          <p:cNvSpPr/>
          <p:nvPr/>
        </p:nvSpPr>
        <p:spPr>
          <a:xfrm>
            <a:off x="762000" y="6731000"/>
            <a:ext cx="1473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 routes: 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/signup → /chat → /risk → /schemes → /records → /companion → /learn</a:t>
            </a:r>
            <a:endParaRPr b="0" i="0" sz="1600" u="none" cap="none" strike="noStrike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screen adapts to the user's selected language — English, Tamil, or Hindi.</a:t>
            </a:r>
            <a:endParaRPr b="0" i="0" sz="1600" u="none" cap="none" strike="noStrike"/>
          </a:p>
        </p:txBody>
      </p:sp>
      <p:sp>
        <p:nvSpPr>
          <p:cNvPr id="325" name="Google Shape;325;p15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333" name="Google Shape;333;p16"/>
          <p:cNvSpPr/>
          <p:nvPr/>
        </p:nvSpPr>
        <p:spPr>
          <a:xfrm>
            <a:off x="762000" y="889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Live Demo — Meet Priya</a:t>
            </a:r>
            <a:endParaRPr b="0" i="0" sz="3000" u="none" cap="none" strike="noStrike"/>
          </a:p>
        </p:txBody>
      </p:sp>
      <p:sp>
        <p:nvSpPr>
          <p:cNvPr id="334" name="Google Shape;334;p16"/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762000" y="1905000"/>
            <a:ext cx="14732000" cy="1016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1108075" y="2159000"/>
            <a:ext cx="400050" cy="457200"/>
          </a:xfrm>
          <a:custGeom>
            <a:rect b="b" l="l" r="r" t="t"/>
            <a:pathLst>
              <a:path extrusionOk="0" h="457200" w="400050">
                <a:moveTo>
                  <a:pt x="200025" y="221456"/>
                </a:moveTo>
                <a:cubicBezTo>
                  <a:pt x="259166" y="221456"/>
                  <a:pt x="307181" y="173441"/>
                  <a:pt x="307181" y="114300"/>
                </a:cubicBezTo>
                <a:cubicBezTo>
                  <a:pt x="307181" y="55159"/>
                  <a:pt x="259166" y="7144"/>
                  <a:pt x="200025" y="7144"/>
                </a:cubicBezTo>
                <a:cubicBezTo>
                  <a:pt x="140884" y="7144"/>
                  <a:pt x="92869" y="55159"/>
                  <a:pt x="92869" y="114300"/>
                </a:cubicBezTo>
                <a:cubicBezTo>
                  <a:pt x="92869" y="173441"/>
                  <a:pt x="140884" y="221456"/>
                  <a:pt x="200025" y="221456"/>
                </a:cubicBezTo>
                <a:close/>
                <a:moveTo>
                  <a:pt x="173504" y="271463"/>
                </a:moveTo>
                <a:cubicBezTo>
                  <a:pt x="85546" y="271463"/>
                  <a:pt x="14288" y="342721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359241" y="457200"/>
                </a:lnTo>
                <a:cubicBezTo>
                  <a:pt x="373886" y="457200"/>
                  <a:pt x="385763" y="445324"/>
                  <a:pt x="385763" y="430679"/>
                </a:cubicBezTo>
                <a:cubicBezTo>
                  <a:pt x="385763" y="342721"/>
                  <a:pt x="314504" y="271463"/>
                  <a:pt x="226546" y="271463"/>
                </a:cubicBezTo>
                <a:lnTo>
                  <a:pt x="173504" y="271463"/>
                </a:lnTo>
                <a:close/>
              </a:path>
            </a:pathLst>
          </a:cu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1778000" y="1968500"/>
            <a:ext cx="13335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Priya, 38, from Delhi.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 screening in 5 years. Mother had breast cancer. No HPV vaccine. Speaks Hindi. Doesn't know about free government schemes.</a:t>
            </a:r>
            <a:endParaRPr b="0" i="0" sz="1600" u="none" cap="none" strike="noStrike"/>
          </a:p>
        </p:txBody>
      </p:sp>
      <p:sp>
        <p:nvSpPr>
          <p:cNvPr id="338" name="Google Shape;338;p16"/>
          <p:cNvSpPr/>
          <p:nvPr/>
        </p:nvSpPr>
        <p:spPr>
          <a:xfrm>
            <a:off x="762000" y="3238500"/>
            <a:ext cx="508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7-MINUTE DEMO FLOW</a:t>
            </a:r>
            <a:endParaRPr b="0" i="0" sz="1600" u="none" cap="none" strike="noStrike"/>
          </a:p>
        </p:txBody>
      </p:sp>
      <p:sp>
        <p:nvSpPr>
          <p:cNvPr id="339" name="Google Shape;339;p16"/>
          <p:cNvSpPr/>
          <p:nvPr/>
        </p:nvSpPr>
        <p:spPr>
          <a:xfrm>
            <a:off x="762000" y="37465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0:00</a:t>
            </a:r>
            <a:endParaRPr b="0" i="0" sz="1600" u="none" cap="none" strike="noStrike"/>
          </a:p>
        </p:txBody>
      </p:sp>
      <p:sp>
        <p:nvSpPr>
          <p:cNvPr id="340" name="Google Shape;340;p16"/>
          <p:cNvSpPr/>
          <p:nvPr/>
        </p:nvSpPr>
        <p:spPr>
          <a:xfrm>
            <a:off x="1651000" y="3810000"/>
            <a:ext cx="38100" cy="5080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1841500" y="3683000"/>
            <a:ext cx="5461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Opening</a:t>
            </a: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Landing page loads, problem statement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"600M women skip screenings every year..."</a:t>
            </a:r>
            <a:endParaRPr b="0" i="0" sz="1600" u="none" cap="none" strike="noStrike"/>
          </a:p>
        </p:txBody>
      </p:sp>
      <p:sp>
        <p:nvSpPr>
          <p:cNvPr id="342" name="Google Shape;342;p16"/>
          <p:cNvSpPr/>
          <p:nvPr/>
        </p:nvSpPr>
        <p:spPr>
          <a:xfrm>
            <a:off x="762000" y="45085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1:00</a:t>
            </a:r>
            <a:endParaRPr b="0" i="0" sz="1600" u="none" cap="none" strike="noStrike"/>
          </a:p>
        </p:txBody>
      </p:sp>
      <p:sp>
        <p:nvSpPr>
          <p:cNvPr id="343" name="Google Shape;343;p16"/>
          <p:cNvSpPr/>
          <p:nvPr/>
        </p:nvSpPr>
        <p:spPr>
          <a:xfrm>
            <a:off x="1651000" y="4572000"/>
            <a:ext cx="38100" cy="5080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1841500" y="4445000"/>
            <a:ext cx="5461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Profiler</a:t>
            </a: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8 conversational questions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Name, age, screening history, family, HPV, location, symptoms, language</a:t>
            </a:r>
            <a:endParaRPr b="0" i="0" sz="1600" u="none" cap="none" strike="noStrike"/>
          </a:p>
        </p:txBody>
      </p:sp>
      <p:sp>
        <p:nvSpPr>
          <p:cNvPr id="345" name="Google Shape;345;p16"/>
          <p:cNvSpPr/>
          <p:nvPr/>
        </p:nvSpPr>
        <p:spPr>
          <a:xfrm>
            <a:off x="762000" y="52705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2:00</a:t>
            </a:r>
            <a:endParaRPr b="0" i="0" sz="1600" u="none" cap="none" strike="noStrike"/>
          </a:p>
        </p:txBody>
      </p:sp>
      <p:sp>
        <p:nvSpPr>
          <p:cNvPr id="346" name="Google Shape;346;p16"/>
          <p:cNvSpPr/>
          <p:nvPr/>
        </p:nvSpPr>
        <p:spPr>
          <a:xfrm>
            <a:off x="1651000" y="5334000"/>
            <a:ext cx="38100" cy="5080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1841500" y="5207000"/>
            <a:ext cx="5461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Score</a:t>
            </a: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Visual timeline + risk card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Moderate risk, cervical + breast flagged, clinical reasoning shown</a:t>
            </a:r>
            <a:endParaRPr b="0" i="0" sz="1600" u="none" cap="none" strike="noStrike"/>
          </a:p>
        </p:txBody>
      </p:sp>
      <p:sp>
        <p:nvSpPr>
          <p:cNvPr id="348" name="Google Shape;348;p16"/>
          <p:cNvSpPr/>
          <p:nvPr/>
        </p:nvSpPr>
        <p:spPr>
          <a:xfrm>
            <a:off x="762000" y="60325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2:30</a:t>
            </a:r>
            <a:endParaRPr b="0" i="0" sz="1600" u="none" cap="none" strike="noStrike"/>
          </a:p>
        </p:txBody>
      </p:sp>
      <p:sp>
        <p:nvSpPr>
          <p:cNvPr id="349" name="Google Shape;349;p16"/>
          <p:cNvSpPr/>
          <p:nvPr/>
        </p:nvSpPr>
        <p:spPr>
          <a:xfrm>
            <a:off x="1651000" y="6096000"/>
            <a:ext cx="38100" cy="5080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1841500" y="5969000"/>
            <a:ext cx="5461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Care Navigator</a:t>
            </a: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Matched schemes + clinics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Ayushman Bharat eligibility + 3 nearest screening camps</a:t>
            </a:r>
            <a:endParaRPr b="0" i="0" sz="1600" u="none" cap="none" strike="noStrike"/>
          </a:p>
        </p:txBody>
      </p:sp>
      <p:sp>
        <p:nvSpPr>
          <p:cNvPr id="351" name="Google Shape;351;p16"/>
          <p:cNvSpPr/>
          <p:nvPr/>
        </p:nvSpPr>
        <p:spPr>
          <a:xfrm>
            <a:off x="7874000" y="3238500"/>
            <a:ext cx="7620000" cy="39370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8255000" y="34925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DEMO CONTINUED</a:t>
            </a:r>
            <a:endParaRPr b="0" i="0" sz="1600" u="none" cap="none" strike="noStrike"/>
          </a:p>
        </p:txBody>
      </p:sp>
      <p:sp>
        <p:nvSpPr>
          <p:cNvPr id="353" name="Google Shape;353;p16"/>
          <p:cNvSpPr/>
          <p:nvPr/>
        </p:nvSpPr>
        <p:spPr>
          <a:xfrm>
            <a:off x="8255000" y="393700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4:00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Records Explainer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Upload lab report, get plain-language explanation + clinical signal extraction</a:t>
            </a:r>
            <a:endParaRPr b="0" i="0" sz="1600" u="none" cap="none" strike="noStrike"/>
          </a:p>
        </p:txBody>
      </p:sp>
      <p:sp>
        <p:nvSpPr>
          <p:cNvPr id="354" name="Google Shape;354;p16"/>
          <p:cNvSpPr/>
          <p:nvPr/>
        </p:nvSpPr>
        <p:spPr>
          <a:xfrm>
            <a:off x="8255000" y="476250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5:00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Education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Personalized video content based on risk profile and language preference</a:t>
            </a:r>
            <a:endParaRPr b="0" i="0" sz="1600" u="none" cap="none" strike="noStrike"/>
          </a:p>
        </p:txBody>
      </p:sp>
      <p:sp>
        <p:nvSpPr>
          <p:cNvPr id="355" name="Google Shape;355;p16"/>
          <p:cNvSpPr/>
          <p:nvPr/>
        </p:nvSpPr>
        <p:spPr>
          <a:xfrm>
            <a:off x="8255000" y="558800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6:00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Companion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Follow-up plan drafted, family message ready, health timeline saved</a:t>
            </a:r>
            <a:endParaRPr b="0" i="0" sz="1600" u="none" cap="none" strike="noStrike"/>
          </a:p>
        </p:txBody>
      </p:sp>
      <p:sp>
        <p:nvSpPr>
          <p:cNvPr id="356" name="Google Shape;356;p16"/>
          <p:cNvSpPr/>
          <p:nvPr/>
        </p:nvSpPr>
        <p:spPr>
          <a:xfrm>
            <a:off x="8255000" y="64770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6:30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Close</a:t>
            </a:r>
            <a:r>
              <a:rPr b="0" i="0" lang="en-US" sz="15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Partner logos, team slide, Q&amp;A</a:t>
            </a:r>
            <a:endParaRPr b="0" i="0" sz="1600" u="none" cap="none" strike="noStrike"/>
          </a:p>
        </p:txBody>
      </p:sp>
      <p:sp>
        <p:nvSpPr>
          <p:cNvPr id="357" name="Google Shape;357;p16"/>
          <p:cNvSpPr/>
          <p:nvPr/>
        </p:nvSpPr>
        <p:spPr>
          <a:xfrm>
            <a:off x="762000" y="7493000"/>
            <a:ext cx="14732000" cy="635000"/>
          </a:xfrm>
          <a:prstGeom prst="rect">
            <a:avLst/>
          </a:prstGeom>
          <a:solidFill>
            <a:srgbClr val="E8705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1016000" y="7569200"/>
            <a:ext cx="1422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Fallback plan:</a:t>
            </a: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Hardcoded data for every agent + pre-recorded screen recording. Demo never crashes.</a:t>
            </a:r>
            <a:endParaRPr b="0" i="0" sz="1600" u="none" cap="none" strike="noStrike"/>
          </a:p>
        </p:txBody>
      </p:sp>
      <p:sp>
        <p:nvSpPr>
          <p:cNvPr id="359" name="Google Shape;359;p16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367" name="Google Shape;367;p17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Why VERA Wins — Competitive Edge</a:t>
            </a:r>
            <a:endParaRPr b="0" i="0" sz="3000" u="none" cap="none" strike="noStrike"/>
          </a:p>
        </p:txBody>
      </p:sp>
      <p:sp>
        <p:nvSpPr>
          <p:cNvPr id="368" name="Google Shape;368;p17"/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"/>
          <p:cNvSpPr/>
          <p:nvPr/>
        </p:nvSpPr>
        <p:spPr>
          <a:xfrm>
            <a:off x="762000" y="1879600"/>
            <a:ext cx="635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BUILT FOR COLLABORATIVE AGENT SWARMS</a:t>
            </a:r>
            <a:endParaRPr b="0" i="0" sz="1600" u="none" cap="none" strike="noStrike"/>
          </a:p>
        </p:txBody>
      </p:sp>
      <p:sp>
        <p:nvSpPr>
          <p:cNvPr id="370" name="Google Shape;370;p17"/>
          <p:cNvSpPr/>
          <p:nvPr/>
        </p:nvSpPr>
        <p:spPr>
          <a:xfrm>
            <a:off x="762000" y="2349500"/>
            <a:ext cx="7112000" cy="1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agents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 clear division of responsibilities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Emergent capability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from collaboration — feedback loop between agents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Real-world impact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 600M underserved women</a:t>
            </a:r>
            <a:endParaRPr b="0" i="0" sz="1600" u="none" cap="none" strike="noStrike"/>
          </a:p>
        </p:txBody>
      </p:sp>
      <p:sp>
        <p:nvSpPr>
          <p:cNvPr id="371" name="Google Shape;371;p17"/>
          <p:cNvSpPr/>
          <p:nvPr/>
        </p:nvSpPr>
        <p:spPr>
          <a:xfrm>
            <a:off x="762000" y="4318000"/>
            <a:ext cx="635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8F71"/>
                </a:solidFill>
                <a:latin typeface="Liter"/>
                <a:ea typeface="Liter"/>
                <a:cs typeface="Liter"/>
                <a:sym typeface="Liter"/>
              </a:rPr>
              <a:t>TECHNICAL DIFFERENTIATORS</a:t>
            </a:r>
            <a:endParaRPr b="0" i="0" sz="1600" u="none" cap="none" strike="noStrike"/>
          </a:p>
        </p:txBody>
      </p:sp>
      <p:sp>
        <p:nvSpPr>
          <p:cNvPr id="372" name="Google Shape;372;p17"/>
          <p:cNvSpPr/>
          <p:nvPr/>
        </p:nvSpPr>
        <p:spPr>
          <a:xfrm>
            <a:off x="762000" y="4762500"/>
            <a:ext cx="7112000" cy="22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MedGemma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Google's purpose-built medical AI, not generic LLM reasoning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Multilingual by design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not an afterthought (EN, HI, TA)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Persistent memory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across sessions — Companion Agent</a:t>
            </a:r>
            <a:endParaRPr b="0" i="0" sz="16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Feedback loop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Records → Risk Profiler re-scoring</a:t>
            </a:r>
            <a:endParaRPr b="0" i="0" sz="1600" u="none" cap="none" strike="noStrike"/>
          </a:p>
        </p:txBody>
      </p:sp>
      <p:sp>
        <p:nvSpPr>
          <p:cNvPr id="373" name="Google Shape;373;p17"/>
          <p:cNvSpPr/>
          <p:nvPr/>
        </p:nvSpPr>
        <p:spPr>
          <a:xfrm>
            <a:off x="762000" y="7112000"/>
            <a:ext cx="635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GLOBAL SCALABILITY</a:t>
            </a:r>
            <a:endParaRPr b="0" i="0" sz="1600" u="none" cap="none" strike="noStrike"/>
          </a:p>
        </p:txBody>
      </p:sp>
      <p:sp>
        <p:nvSpPr>
          <p:cNvPr id="374" name="Google Shape;374;p17"/>
          <p:cNvSpPr/>
          <p:nvPr/>
        </p:nvSpPr>
        <p:spPr>
          <a:xfrm>
            <a:off x="762000" y="7556500"/>
            <a:ext cx="7112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Country-agnostic architecture.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Scheme data is the only country-specific layer. Add NHS, Medicare equivalents in </a:t>
            </a:r>
            <a:r>
              <a:rPr b="1" i="0" lang="en-US" sz="17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days</a:t>
            </a:r>
            <a:r>
              <a:rPr b="0" i="0" lang="en-US" sz="17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not months.</a:t>
            </a:r>
            <a:endParaRPr b="0" i="0" sz="1600" u="none" cap="none" strike="noStrike"/>
          </a:p>
        </p:txBody>
      </p:sp>
      <p:sp>
        <p:nvSpPr>
          <p:cNvPr id="375" name="Google Shape;375;p17"/>
          <p:cNvSpPr/>
          <p:nvPr/>
        </p:nvSpPr>
        <p:spPr>
          <a:xfrm>
            <a:off x="7969200" y="2178000"/>
            <a:ext cx="7112100" cy="6350100"/>
          </a:xfrm>
          <a:prstGeom prst="rect">
            <a:avLst/>
          </a:prstGeom>
          <a:gradFill>
            <a:gsLst>
              <a:gs pos="0">
                <a:srgbClr val="F5F0EB">
                  <a:alpha val="94117"/>
                </a:srgbClr>
              </a:gs>
              <a:gs pos="30000">
                <a:srgbClr val="F5F0EB">
                  <a:alpha val="50196"/>
                </a:srgbClr>
              </a:gs>
              <a:gs pos="100000">
                <a:srgbClr val="F5F0EB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8509050" y="1403400"/>
            <a:ext cx="6603900" cy="12699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7"/>
          <p:cNvSpPr/>
          <p:nvPr/>
        </p:nvSpPr>
        <p:spPr>
          <a:xfrm>
            <a:off x="8860050" y="146685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single agent can achieve</a:t>
            </a:r>
            <a:endParaRPr b="0" i="0" sz="1600" u="none" cap="none" strike="noStrike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VERA's mission alone.</a:t>
            </a:r>
            <a:endParaRPr b="0" i="0" sz="1600" u="none" cap="none" strike="noStrike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That's the swarm advantage.</a:t>
            </a:r>
            <a:endParaRPr b="0" i="0" sz="1600" u="none" cap="none" strike="noStrike"/>
          </a:p>
        </p:txBody>
      </p:sp>
      <p:sp>
        <p:nvSpPr>
          <p:cNvPr id="378" name="Google Shape;378;p17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b="0" i="0" sz="1400" u="none" cap="none" strike="noStrike"/>
          </a:p>
        </p:txBody>
      </p:sp>
      <p:pic>
        <p:nvPicPr>
          <p:cNvPr id="380" name="Google Shape;3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250" y="2997200"/>
            <a:ext cx="7429500" cy="57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387" name="Google Shape;387;p18"/>
          <p:cNvSpPr/>
          <p:nvPr/>
        </p:nvSpPr>
        <p:spPr>
          <a:xfrm>
            <a:off x="762000" y="889000"/>
            <a:ext cx="635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3B3B"/>
                </a:solidFill>
                <a:latin typeface="Liter"/>
                <a:ea typeface="Liter"/>
                <a:cs typeface="Liter"/>
                <a:sym typeface="Liter"/>
              </a:rPr>
              <a:t>Partners &amp; Deployment</a:t>
            </a:r>
            <a:endParaRPr b="0" i="0" sz="3000" u="none" cap="none" strike="noStrike"/>
          </a:p>
        </p:txBody>
      </p:sp>
      <p:sp>
        <p:nvSpPr>
          <p:cNvPr id="388" name="Google Shape;388;p18"/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8"/>
          <p:cNvSpPr/>
          <p:nvPr/>
        </p:nvSpPr>
        <p:spPr>
          <a:xfrm>
            <a:off x="762000" y="1968500"/>
            <a:ext cx="7112000" cy="25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8"/>
          <p:cNvSpPr/>
          <p:nvPr/>
        </p:nvSpPr>
        <p:spPr>
          <a:xfrm>
            <a:off x="762000" y="1968500"/>
            <a:ext cx="7112000" cy="6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8"/>
          <p:cNvSpPr/>
          <p:nvPr/>
        </p:nvSpPr>
        <p:spPr>
          <a:xfrm>
            <a:off x="1016000" y="2222500"/>
            <a:ext cx="254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PRIMARY PARTNER</a:t>
            </a:r>
            <a:endParaRPr b="0" i="0" sz="1600" u="none" cap="none" strike="noStrike"/>
          </a:p>
        </p:txBody>
      </p:sp>
      <p:sp>
        <p:nvSpPr>
          <p:cNvPr id="392" name="Google Shape;392;p18"/>
          <p:cNvSpPr/>
          <p:nvPr/>
        </p:nvSpPr>
        <p:spPr>
          <a:xfrm>
            <a:off x="1016000" y="2603500"/>
            <a:ext cx="381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4285F4"/>
                </a:solidFill>
                <a:latin typeface="Liter"/>
                <a:ea typeface="Liter"/>
                <a:cs typeface="Liter"/>
                <a:sym typeface="Liter"/>
              </a:rPr>
              <a:t>Google Gemini</a:t>
            </a:r>
            <a:endParaRPr b="0" i="0" sz="1600" u="none" cap="none" strike="noStrike"/>
          </a:p>
        </p:txBody>
      </p:sp>
      <p:sp>
        <p:nvSpPr>
          <p:cNvPr id="393" name="Google Shape;393;p18"/>
          <p:cNvSpPr/>
          <p:nvPr/>
        </p:nvSpPr>
        <p:spPr>
          <a:xfrm>
            <a:off x="1016000" y="3175000"/>
            <a:ext cx="6604000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Multimodal understanding + multilingual generation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Gemini 2.0 Flash for speed, MedGemma for medical accuracy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Single API key via Google AI Studio</a:t>
            </a:r>
            <a:endParaRPr b="0" i="0" sz="1600" u="none" cap="none" strike="noStrike"/>
          </a:p>
        </p:txBody>
      </p:sp>
      <p:sp>
        <p:nvSpPr>
          <p:cNvPr id="394" name="Google Shape;394;p18"/>
          <p:cNvSpPr/>
          <p:nvPr/>
        </p:nvSpPr>
        <p:spPr>
          <a:xfrm>
            <a:off x="762000" y="4826000"/>
            <a:ext cx="7112000" cy="25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DC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8"/>
          <p:cNvSpPr/>
          <p:nvPr/>
        </p:nvSpPr>
        <p:spPr>
          <a:xfrm>
            <a:off x="762000" y="4826000"/>
            <a:ext cx="7112000" cy="635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1016000" y="5080000"/>
            <a:ext cx="254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INFRASTRUCTURE</a:t>
            </a:r>
            <a:endParaRPr b="0" i="0" sz="1600" u="none" cap="none" strike="noStrike"/>
          </a:p>
        </p:txBody>
      </p:sp>
      <p:sp>
        <p:nvSpPr>
          <p:cNvPr id="397" name="Google Shape;397;p18"/>
          <p:cNvSpPr/>
          <p:nvPr/>
        </p:nvSpPr>
        <p:spPr>
          <a:xfrm>
            <a:off x="1016000" y="5461000"/>
            <a:ext cx="381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66CC"/>
                </a:solidFill>
                <a:latin typeface="Liter"/>
                <a:ea typeface="Liter"/>
                <a:cs typeface="Liter"/>
                <a:sym typeface="Liter"/>
              </a:rPr>
              <a:t>Vultr</a:t>
            </a:r>
            <a:endParaRPr b="0" i="0" sz="1600" u="none" cap="none" strike="noStrike"/>
          </a:p>
        </p:txBody>
      </p:sp>
      <p:sp>
        <p:nvSpPr>
          <p:cNvPr id="398" name="Google Shape;398;p18"/>
          <p:cNvSpPr/>
          <p:nvPr/>
        </p:nvSpPr>
        <p:spPr>
          <a:xfrm>
            <a:off x="1016000" y="6032500"/>
            <a:ext cx="6604000" cy="10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Cloud deployment infrastructure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Docker containers for backend + database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B8F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2D2D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One-command deployment: docker compose up</a:t>
            </a:r>
            <a:endParaRPr b="0" i="0" sz="1600" u="none" cap="none" strike="noStrike"/>
          </a:p>
        </p:txBody>
      </p:sp>
      <p:sp>
        <p:nvSpPr>
          <p:cNvPr id="399" name="Google Shape;399;p18"/>
          <p:cNvSpPr/>
          <p:nvPr/>
        </p:nvSpPr>
        <p:spPr>
          <a:xfrm>
            <a:off x="8382000" y="1968500"/>
            <a:ext cx="7112000" cy="5397500"/>
          </a:xfrm>
          <a:prstGeom prst="rect">
            <a:avLst/>
          </a:prstGeom>
          <a:solidFill>
            <a:srgbClr val="0D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8763000" y="2286000"/>
            <a:ext cx="381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DEPLOYMENT &amp; PRIVACY</a:t>
            </a:r>
            <a:endParaRPr b="0" i="0" sz="1600" u="none" cap="none" strike="noStrike"/>
          </a:p>
        </p:txBody>
      </p:sp>
      <p:sp>
        <p:nvSpPr>
          <p:cNvPr id="401" name="Google Shape;401;p18"/>
          <p:cNvSpPr/>
          <p:nvPr/>
        </p:nvSpPr>
        <p:spPr>
          <a:xfrm>
            <a:off x="8763000" y="2857500"/>
            <a:ext cx="63500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Compose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entire stack in one command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PostgreSQL 16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 pgvector — auto-seeded scheme data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FastAPI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async backend on port 8000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Next.js 16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frontend on port 3000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PII stored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beyond session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GDPR-aligned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by design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Hardcoded fallbacks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100% demo reliability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MIT Licensed</a:t>
            </a:r>
            <a:r>
              <a:rPr b="0" i="0" lang="en-US" sz="16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Open Source</a:t>
            </a:r>
            <a:endParaRPr b="0" i="0" sz="1600" u="none" cap="none" strike="noStrike"/>
          </a:p>
        </p:txBody>
      </p:sp>
      <p:sp>
        <p:nvSpPr>
          <p:cNvPr id="402" name="Google Shape;402;p18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"/>
          <p:cNvSpPr/>
          <p:nvPr/>
        </p:nvSpPr>
        <p:spPr>
          <a:xfrm>
            <a:off x="762000" y="3048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b="0" i="0" sz="1600" u="none" cap="none" strike="noStrike"/>
          </a:p>
        </p:txBody>
      </p:sp>
      <p:sp>
        <p:nvSpPr>
          <p:cNvPr id="410" name="Google Shape;410;p19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The Impact — Numbers That Matter</a:t>
            </a:r>
            <a:endParaRPr b="0" i="0" sz="1600" u="none" cap="none" strike="noStrike"/>
          </a:p>
        </p:txBody>
      </p:sp>
      <p:sp>
        <p:nvSpPr>
          <p:cNvPr id="411" name="Google Shape;411;p19"/>
          <p:cNvSpPr/>
          <p:nvPr/>
        </p:nvSpPr>
        <p:spPr>
          <a:xfrm>
            <a:off x="762000" y="1549400"/>
            <a:ext cx="762000" cy="381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9"/>
          <p:cNvSpPr/>
          <p:nvPr/>
        </p:nvSpPr>
        <p:spPr>
          <a:xfrm>
            <a:off x="762000" y="2159000"/>
            <a:ext cx="4445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600M</a:t>
            </a:r>
            <a:endParaRPr b="0" i="0" sz="1600" u="none" cap="none" strike="noStrike"/>
          </a:p>
        </p:txBody>
      </p:sp>
      <p:sp>
        <p:nvSpPr>
          <p:cNvPr id="413" name="Google Shape;413;p19"/>
          <p:cNvSpPr/>
          <p:nvPr/>
        </p:nvSpPr>
        <p:spPr>
          <a:xfrm>
            <a:off x="762000" y="3238500"/>
            <a:ext cx="44450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Women skipping screenings globally — VERA's addressable market</a:t>
            </a:r>
            <a:endParaRPr b="0" i="0" sz="1600" u="none" cap="none" strike="noStrike"/>
          </a:p>
        </p:txBody>
      </p:sp>
      <p:sp>
        <p:nvSpPr>
          <p:cNvPr id="414" name="Google Shape;414;p19"/>
          <p:cNvSpPr/>
          <p:nvPr/>
        </p:nvSpPr>
        <p:spPr>
          <a:xfrm>
            <a:off x="5842000" y="2159000"/>
            <a:ext cx="4445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&lt;3s</a:t>
            </a:r>
            <a:endParaRPr b="0" i="0" sz="1600" u="none" cap="none" strike="noStrike"/>
          </a:p>
        </p:txBody>
      </p:sp>
      <p:sp>
        <p:nvSpPr>
          <p:cNvPr id="415" name="Google Shape;415;p19"/>
          <p:cNvSpPr/>
          <p:nvPr/>
        </p:nvSpPr>
        <p:spPr>
          <a:xfrm>
            <a:off x="5842000" y="3238500"/>
            <a:ext cx="44450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 time per agent step — frictionless experience</a:t>
            </a:r>
            <a:endParaRPr b="0" i="0" sz="1600" u="none" cap="none" strike="noStrike"/>
          </a:p>
        </p:txBody>
      </p:sp>
      <p:sp>
        <p:nvSpPr>
          <p:cNvPr id="416" name="Google Shape;416;p19"/>
          <p:cNvSpPr/>
          <p:nvPr/>
        </p:nvSpPr>
        <p:spPr>
          <a:xfrm>
            <a:off x="10922000" y="2159000"/>
            <a:ext cx="457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600" u="none" cap="none" strike="noStrike"/>
          </a:p>
        </p:txBody>
      </p:sp>
      <p:sp>
        <p:nvSpPr>
          <p:cNvPr id="417" name="Google Shape;417;p19"/>
          <p:cNvSpPr/>
          <p:nvPr/>
        </p:nvSpPr>
        <p:spPr>
          <a:xfrm>
            <a:off x="10922000" y="3238500"/>
            <a:ext cx="45720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Languages at launch: English, Tamil, Hindi — extensible to any</a:t>
            </a:r>
            <a:endParaRPr b="0" i="0" sz="1600" u="none" cap="none" strike="noStrike"/>
          </a:p>
        </p:txBody>
      </p:sp>
      <p:sp>
        <p:nvSpPr>
          <p:cNvPr id="418" name="Google Shape;418;p19"/>
          <p:cNvSpPr/>
          <p:nvPr/>
        </p:nvSpPr>
        <p:spPr>
          <a:xfrm>
            <a:off x="762000" y="4191000"/>
            <a:ext cx="14732000" cy="1270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9"/>
          <p:cNvSpPr/>
          <p:nvPr/>
        </p:nvSpPr>
        <p:spPr>
          <a:xfrm>
            <a:off x="762000" y="4572000"/>
            <a:ext cx="3429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6B8F71"/>
                </a:solidFill>
                <a:latin typeface="Liter"/>
                <a:ea typeface="Liter"/>
                <a:cs typeface="Liter"/>
                <a:sym typeface="Liter"/>
              </a:rPr>
              <a:t>8</a:t>
            </a:r>
            <a:endParaRPr b="0" i="0" sz="1600" u="none" cap="none" strike="noStrike"/>
          </a:p>
        </p:txBody>
      </p:sp>
      <p:sp>
        <p:nvSpPr>
          <p:cNvPr id="420" name="Google Shape;420;p19"/>
          <p:cNvSpPr/>
          <p:nvPr/>
        </p:nvSpPr>
        <p:spPr>
          <a:xfrm>
            <a:off x="762000" y="55245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 from fear to clarity</a:t>
            </a:r>
            <a:endParaRPr b="0" i="0" sz="1600" u="none" cap="none" strike="noStrike"/>
          </a:p>
        </p:txBody>
      </p:sp>
      <p:sp>
        <p:nvSpPr>
          <p:cNvPr id="421" name="Google Shape;421;p19"/>
          <p:cNvSpPr/>
          <p:nvPr/>
        </p:nvSpPr>
        <p:spPr>
          <a:xfrm>
            <a:off x="4572000" y="4572000"/>
            <a:ext cx="3429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6B8F71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b="0" i="0" sz="1600" u="none" cap="none" strike="noStrike"/>
          </a:p>
        </p:txBody>
      </p:sp>
      <p:sp>
        <p:nvSpPr>
          <p:cNvPr id="422" name="Google Shape;422;p19"/>
          <p:cNvSpPr/>
          <p:nvPr/>
        </p:nvSpPr>
        <p:spPr>
          <a:xfrm>
            <a:off x="4572000" y="55245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Agents, each irreplaceable</a:t>
            </a:r>
            <a:endParaRPr b="0" i="0" sz="1600" u="none" cap="none" strike="noStrike"/>
          </a:p>
        </p:txBody>
      </p:sp>
      <p:sp>
        <p:nvSpPr>
          <p:cNvPr id="423" name="Google Shape;423;p19"/>
          <p:cNvSpPr/>
          <p:nvPr/>
        </p:nvSpPr>
        <p:spPr>
          <a:xfrm>
            <a:off x="8382000" y="4572000"/>
            <a:ext cx="3429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6B8F71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1600" u="none" cap="none" strike="noStrike"/>
          </a:p>
        </p:txBody>
      </p:sp>
      <p:sp>
        <p:nvSpPr>
          <p:cNvPr id="424" name="Google Shape;424;p19"/>
          <p:cNvSpPr/>
          <p:nvPr/>
        </p:nvSpPr>
        <p:spPr>
          <a:xfrm>
            <a:off x="8382000" y="5524500"/>
            <a:ext cx="3429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Feedback loop — emergent capability</a:t>
            </a:r>
            <a:endParaRPr b="0" i="0" sz="1600" u="none" cap="none" strike="noStrike"/>
          </a:p>
        </p:txBody>
      </p:sp>
      <p:sp>
        <p:nvSpPr>
          <p:cNvPr id="425" name="Google Shape;425;p19"/>
          <p:cNvSpPr/>
          <p:nvPr/>
        </p:nvSpPr>
        <p:spPr>
          <a:xfrm>
            <a:off x="12192000" y="4572000"/>
            <a:ext cx="3302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6B8F71"/>
                </a:solidFill>
                <a:latin typeface="Liter"/>
                <a:ea typeface="Liter"/>
                <a:cs typeface="Liter"/>
                <a:sym typeface="Liter"/>
              </a:rPr>
              <a:t>$0</a:t>
            </a:r>
            <a:endParaRPr b="0" i="0" sz="1600" u="none" cap="none" strike="noStrike"/>
          </a:p>
        </p:txBody>
      </p:sp>
      <p:sp>
        <p:nvSpPr>
          <p:cNvPr id="426" name="Google Shape;426;p19"/>
          <p:cNvSpPr/>
          <p:nvPr/>
        </p:nvSpPr>
        <p:spPr>
          <a:xfrm>
            <a:off x="12192000" y="55245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 to user — free schemes</a:t>
            </a:r>
            <a:endParaRPr b="0" i="0" sz="1600" u="none" cap="none" strike="noStrike"/>
          </a:p>
        </p:txBody>
      </p:sp>
      <p:sp>
        <p:nvSpPr>
          <p:cNvPr id="427" name="Google Shape;427;p19"/>
          <p:cNvSpPr/>
          <p:nvPr/>
        </p:nvSpPr>
        <p:spPr>
          <a:xfrm>
            <a:off x="762000" y="6477000"/>
            <a:ext cx="14732000" cy="12700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9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Target:</a:t>
            </a:r>
            <a:r>
              <a:rPr b="0" i="0" lang="en-US" sz="2200" u="none" cap="none" strike="noStrike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100% demo reliability. Zero crashes during the 7-minute live demo.</a:t>
            </a:r>
            <a:endParaRPr b="0" i="0" sz="1600" u="none" cap="none" strike="noStrike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70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number represents a woman who deserves to know her risk.</a:t>
            </a:r>
            <a:endParaRPr b="0" i="0" sz="1600" u="none" cap="none" strike="noStrike"/>
          </a:p>
        </p:txBody>
      </p:sp>
      <p:sp>
        <p:nvSpPr>
          <p:cNvPr id="429" name="Google Shape;429;p19"/>
          <p:cNvSpPr/>
          <p:nvPr/>
        </p:nvSpPr>
        <p:spPr>
          <a:xfrm>
            <a:off x="762000" y="8763000"/>
            <a:ext cx="14732000" cy="25400"/>
          </a:xfrm>
          <a:prstGeom prst="rect">
            <a:avLst/>
          </a:prstGeom>
          <a:solidFill>
            <a:srgbClr val="E87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9"/>
          <p:cNvSpPr/>
          <p:nvPr/>
        </p:nvSpPr>
        <p:spPr>
          <a:xfrm>
            <a:off x="14859000" y="8483600"/>
            <a:ext cx="63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0"/>
          <p:cNvSpPr/>
          <p:nvPr/>
        </p:nvSpPr>
        <p:spPr>
          <a:xfrm>
            <a:off x="762000" y="1524000"/>
            <a:ext cx="5079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1600" u="none" cap="none" strike="noStrike"/>
          </a:p>
        </p:txBody>
      </p:sp>
      <p:sp>
        <p:nvSpPr>
          <p:cNvPr id="437" name="Google Shape;437;p20"/>
          <p:cNvSpPr/>
          <p:nvPr/>
        </p:nvSpPr>
        <p:spPr>
          <a:xfrm>
            <a:off x="762000" y="3683000"/>
            <a:ext cx="3810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705A"/>
                </a:solidFill>
                <a:latin typeface="Liter"/>
                <a:ea typeface="Liter"/>
                <a:cs typeface="Liter"/>
                <a:sym typeface="Liter"/>
              </a:rPr>
              <a:t>THE FUTURE</a:t>
            </a:r>
            <a:endParaRPr b="0" i="0" sz="1600" u="none" cap="none" strike="noStrike"/>
          </a:p>
        </p:txBody>
      </p:sp>
      <p:sp>
        <p:nvSpPr>
          <p:cNvPr id="438" name="Google Shape;438;p20"/>
          <p:cNvSpPr/>
          <p:nvPr/>
        </p:nvSpPr>
        <p:spPr>
          <a:xfrm>
            <a:off x="762000" y="4572000"/>
            <a:ext cx="88899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Liter"/>
                <a:ea typeface="Liter"/>
                <a:cs typeface="Liter"/>
                <a:sym typeface="Liter"/>
              </a:rPr>
              <a:t>From Prototype to Global Equity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439" name="Google Shape;439;p20"/>
          <p:cNvSpPr txBox="1"/>
          <p:nvPr/>
        </p:nvSpPr>
        <p:spPr>
          <a:xfrm>
            <a:off x="762000" y="5411925"/>
            <a:ext cx="600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Scaling VERA to every woman, everywhere.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40" name="Google Shape;440;p20"/>
          <p:cNvSpPr/>
          <p:nvPr/>
        </p:nvSpPr>
        <p:spPr>
          <a:xfrm>
            <a:off x="762000" y="6604000"/>
            <a:ext cx="4445100" cy="76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Now</a:t>
            </a:r>
            <a:r>
              <a:rPr b="0" i="0" lang="en-US" sz="23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Hackathon + Demo</a:t>
            </a:r>
            <a:endParaRPr b="0" i="0" sz="2500" u="none" cap="none" strike="noStrike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Milan AI Week 2026</a:t>
            </a:r>
            <a:endParaRPr b="0" i="0" sz="2500" u="none" cap="none" strike="noStrike">
              <a:solidFill>
                <a:schemeClr val="lt1"/>
              </a:solidFill>
            </a:endParaRPr>
          </a:p>
        </p:txBody>
      </p:sp>
      <p:sp>
        <p:nvSpPr>
          <p:cNvPr id="441" name="Google Shape;441;p20"/>
          <p:cNvSpPr txBox="1"/>
          <p:nvPr/>
        </p:nvSpPr>
        <p:spPr>
          <a:xfrm>
            <a:off x="6491325" y="6571750"/>
            <a:ext cx="3810000" cy="8265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Next</a:t>
            </a:r>
            <a:r>
              <a:rPr lang="en-US" sz="1900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Pilot in India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Partner with screening camps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442" name="Google Shape;442;p20"/>
          <p:cNvSpPr txBox="1"/>
          <p:nvPr/>
        </p:nvSpPr>
        <p:spPr>
          <a:xfrm>
            <a:off x="11867275" y="6571750"/>
            <a:ext cx="3572100" cy="826500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</a:t>
            </a:r>
            <a:r>
              <a:rPr lang="en-US" sz="1900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Global Scale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0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country, every language</a:t>
            </a:r>
            <a:endParaRPr sz="2100">
              <a:solidFill>
                <a:schemeClr val="dk1"/>
              </a:solidFill>
            </a:endParaRPr>
          </a:p>
        </p:txBody>
      </p:sp>
      <p:cxnSp>
        <p:nvCxnSpPr>
          <p:cNvPr id="443" name="Google Shape;443;p20"/>
          <p:cNvCxnSpPr/>
          <p:nvPr/>
        </p:nvCxnSpPr>
        <p:spPr>
          <a:xfrm>
            <a:off x="5595263" y="6985000"/>
            <a:ext cx="507900" cy="0"/>
          </a:xfrm>
          <a:prstGeom prst="straightConnector1">
            <a:avLst/>
          </a:prstGeom>
          <a:noFill/>
          <a:ln cap="flat" cmpd="sng" w="25400">
            <a:solidFill>
              <a:srgbClr val="E8705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4" name="Google Shape;444;p20"/>
          <p:cNvCxnSpPr/>
          <p:nvPr/>
        </p:nvCxnSpPr>
        <p:spPr>
          <a:xfrm>
            <a:off x="10830350" y="6985000"/>
            <a:ext cx="507900" cy="0"/>
          </a:xfrm>
          <a:prstGeom prst="straightConnector1">
            <a:avLst/>
          </a:prstGeom>
          <a:noFill/>
          <a:ln cap="flat" cmpd="sng" w="25400">
            <a:solidFill>
              <a:srgbClr val="E8705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623776" y="-4002525"/>
            <a:ext cx="9646350" cy="1714905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1"/>
          <p:cNvSpPr txBox="1"/>
          <p:nvPr/>
        </p:nvSpPr>
        <p:spPr>
          <a:xfrm>
            <a:off x="5866375" y="584475"/>
            <a:ext cx="474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iter"/>
                <a:ea typeface="Liter"/>
                <a:cs typeface="Liter"/>
                <a:sym typeface="Liter"/>
              </a:rPr>
              <a:t>AI AGENT OLYMPICS — MILAN AI WEEK 2026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6946950" y="1385425"/>
            <a:ext cx="3000000" cy="129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VERA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53" name="Google Shape;453;p21"/>
          <p:cNvSpPr txBox="1"/>
          <p:nvPr/>
        </p:nvSpPr>
        <p:spPr>
          <a:xfrm>
            <a:off x="6868800" y="2922425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latin typeface="Quattrocento Sans"/>
                <a:ea typeface="Quattrocento Sans"/>
                <a:cs typeface="Quattrocento Sans"/>
                <a:sym typeface="Quattrocento Sans"/>
              </a:rPr>
              <a:t>600 million women. One truth.</a:t>
            </a:r>
            <a:endParaRPr sz="1600"/>
          </a:p>
        </p:txBody>
      </p:sp>
      <p:sp>
        <p:nvSpPr>
          <p:cNvPr id="454" name="Google Shape;454;p21"/>
          <p:cNvSpPr txBox="1"/>
          <p:nvPr/>
        </p:nvSpPr>
        <p:spPr>
          <a:xfrm>
            <a:off x="6000750" y="4089825"/>
            <a:ext cx="4892400" cy="431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5F0EB"/>
                </a:solidFill>
                <a:latin typeface="Liter"/>
                <a:ea typeface="Liter"/>
                <a:cs typeface="Liter"/>
                <a:sym typeface="Liter"/>
              </a:rPr>
              <a:t>TRACK: COLLABORATIVE AGENT SWARMS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55" name="Google Shape;455;p21"/>
          <p:cNvSpPr txBox="1"/>
          <p:nvPr/>
        </p:nvSpPr>
        <p:spPr>
          <a:xfrm>
            <a:off x="6147950" y="8464250"/>
            <a:ext cx="489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Powered by Google Gemini | Deployed on Vultr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7075800" y="4944350"/>
            <a:ext cx="2742300" cy="63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uFill>
                  <a:noFill/>
                </a:uFill>
                <a:latin typeface="Liter"/>
                <a:ea typeface="Liter"/>
                <a:cs typeface="Liter"/>
                <a:sym typeface="Li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LINK</a:t>
            </a:r>
            <a:endParaRPr b="0" i="0" sz="1600" cap="none" strike="noStrike">
              <a:solidFill>
                <a:schemeClr val="lt1"/>
              </a:solidFill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7094150" y="7933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A85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MIT Licensed — Open Source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